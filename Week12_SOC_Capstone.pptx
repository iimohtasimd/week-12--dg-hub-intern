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IN" sz="1800" b="0" u="none" strike="noStrike">
                <a:solidFill>
                  <a:schemeClr val="dk1"/>
                </a:solidFill>
                <a:effectLst/>
                <a:uFillTx/>
                <a:latin typeface="Calibri"/>
              </a:rPr>
              <a:t>Click to move the slide</a:t>
            </a:r>
            <a:endParaRPr lang="en-IN" sz="1800" b="0" u="none" strike="noStrike">
              <a:solidFill>
                <a:schemeClr val="dk1"/>
              </a:solidFill>
              <a:effectLst/>
              <a:uFillTx/>
              <a:latin typeface="Calibri"/>
            </a:endParaRPr>
          </a:p>
        </p:txBody>
      </p:sp>
      <p:sp>
        <p:nvSpPr>
          <p:cNvPr id="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9"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10"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1"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6E14A47F-ACD2-4A30-B7D4-39B9C450ACE5}"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685800" y="1143000"/>
            <a:ext cx="5486040" cy="3085920"/>
          </a:xfrm>
          <a:prstGeom prst="rect">
            <a:avLst/>
          </a:prstGeom>
          <a:ln w="0">
            <a:noFill/>
          </a:ln>
        </p:spPr>
      </p:sp>
      <p:sp>
        <p:nvSpPr>
          <p:cNvPr id="2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Final capstone of the four-week SOC module. Scenario D combines three authorised lab activities on a private host-only network: reconnaissance, authentication events and system/file activity.</a:t>
            </a:r>
            <a:endParaRPr lang="en-IN" sz="2000" b="0" u="none" strike="noStrike">
              <a:solidFill>
                <a:srgbClr val="000000"/>
              </a:solidFill>
              <a:effectLst/>
              <a:uFillTx/>
              <a:latin typeface="Arial"/>
            </a:endParaRPr>
          </a:p>
        </p:txBody>
      </p:sp>
      <p:sp>
        <p:nvSpPr>
          <p:cNvPr id="21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C63B9F8-B4A8-4365-86C1-15A2ABA013C5}"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Everything stays inside the isolated VirtualBox host-only network 192.168.56.0/24. Snort is a passive sensor on enp0s8; Wazuh agent ubuntu-agent ships auth.log, sudo, PAM and FIM events.</a:t>
            </a:r>
            <a:endParaRPr lang="en-IN" sz="2000" b="0" u="none" strike="noStrike">
              <a:solidFill>
                <a:srgbClr val="000000"/>
              </a:solidFill>
              <a:effectLst/>
              <a:uFillTx/>
              <a:latin typeface="Arial"/>
            </a:endParaRPr>
          </a:p>
        </p:txBody>
      </p:sp>
      <p:sp>
        <p:nvSpPr>
          <p:cNvPr id="21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60FBA2-0A7B-41A5-B9E2-B046D7807BD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Dashboard shows 0 critical, 0 high, 50 medium, 73 low in the last 24 hours. Manager is Active on 4.14.8 with wazuh-manager and wazuh-indexer running. Open item: the Agents Summary tile says no agents registered although alerts come from ubuntu-agent, so a fresh Agents page screenshot is still to be captured.</a:t>
            </a:r>
            <a:endParaRPr lang="en-IN" sz="2000" b="0" u="none" strike="noStrike">
              <a:solidFill>
                <a:srgbClr val="000000"/>
              </a:solidFill>
              <a:effectLst/>
              <a:uFillTx/>
              <a:latin typeface="Arial"/>
            </a:endParaRPr>
          </a:p>
        </p:txBody>
      </p:sp>
      <p:sp>
        <p:nvSpPr>
          <p:cNvPr id="21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3544E4B-A18A-46B7-BCEB-E02BF4613CE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Snort is passive on enp0s8 with 300 appid patterns loaded. The custom rule SID 1:1000001 fires on every ICMP echo. The Week 9 rule set covers ICMP and HTTP only, so SSH password guessing produced no Snort alert. That is a detection gap, not a sensor failure.</a:t>
            </a:r>
            <a:endParaRPr lang="en-IN" sz="2000" b="0" u="none" strike="noStrike">
              <a:solidFill>
                <a:srgbClr val="000000"/>
              </a:solidFill>
              <a:effectLst/>
              <a:uFillTx/>
              <a:latin typeface="Arial"/>
            </a:endParaRPr>
          </a:p>
        </p:txBody>
      </p:sp>
      <p:sp>
        <p:nvSpPr>
          <p:cNvPr id="22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8F38AC2-90E4-4E8B-85A9-A2EF68ECAF9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Failed logins climb from level 5 to 7, the frequency rule 5763 fires at level 10, and rule 5715 records the success. After login the host logs the PAM session, sudo to root and the FIM events. Tool level and analyst severity are separate scales: 5715 is level 3 but High in sequence.</a:t>
            </a:r>
            <a:endParaRPr lang="en-IN" sz="2000" b="0" u="none" strike="noStrike">
              <a:solidFill>
                <a:srgbClr val="000000"/>
              </a:solidFill>
              <a:effectLst/>
              <a:uFillTx/>
              <a:latin typeface="Arial"/>
            </a:endParaRPr>
          </a:p>
        </p:txBody>
      </p:sp>
      <p:sp>
        <p:nvSpPr>
          <p:cNvPr id="22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440F1DA-478D-4FE3-8ECA-1E3FCC1BBE7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Seven steps from T0 to T6. Exact hh:mm:ss values and the timezone are still to be copied from the raw alert JSON and Snort alert log after normalising all sources to one timezone and checking VM clock drift.</a:t>
            </a:r>
            <a:endParaRPr lang="en-IN" sz="2000" b="0" u="none" strike="noStrike">
              <a:solidFill>
                <a:srgbClr val="000000"/>
              </a:solidFill>
              <a:effectLst/>
              <a:uFillTx/>
              <a:latin typeface="Arial"/>
            </a:endParaRPr>
          </a:p>
        </p:txBody>
      </p:sp>
      <p:sp>
        <p:nvSpPr>
          <p:cNvPr id="22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3C645FA-0FE4-4013-8CB1-8040A7CF043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Each tool has blind spots the other covers. Snort saw the ping on the wire but cannot read encrypted SSH or host activity. Wazuh saw the authentication result, sudo and file change but not the network recon. Correlated, the Low and Medium alerts describe a successful attack path.</a:t>
            </a:r>
            <a:endParaRPr lang="en-IN" sz="2000" b="0" u="none" strike="noStrike">
              <a:solidFill>
                <a:srgbClr val="000000"/>
              </a:solidFill>
              <a:effectLst/>
              <a:uFillTx/>
              <a:latin typeface="Arial"/>
            </a:endParaRPr>
          </a:p>
        </p:txBody>
      </p:sp>
      <p:sp>
        <p:nvSpPr>
          <p:cNvPr id="22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0CE0441-D564-4315-B966-3C9A6166D9F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Classification is benign true positive: every rule detected the behaviour it was written for, and the source, timing and account match the planned lab test. In production the same pattern would be escalated as a likely compromise because success followed failures. The source address 192.168.56.1 should be confirmed in data.srcip, since .1 is normally the host-side adapter in VirtualBox.</a:t>
            </a:r>
            <a:endParaRPr lang="en-IN" sz="2000" b="0" u="none" strike="noStrike">
              <a:solidFill>
                <a:srgbClr val="000000"/>
              </a:solidFill>
              <a:effectLst/>
              <a:uFillTx/>
              <a:latin typeface="Arial"/>
            </a:endParaRPr>
          </a:p>
        </p:txBody>
      </p:sp>
      <p:sp>
        <p:nvSpPr>
          <p:cNvPr id="23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B882EE3-850A-42AE-9F1C-6F4363447E5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plan follows preparation, identification, analysis, containment, eradication, recovery and lessons learned. In the lab, containment means stopping the test and confirming isolation. Production actions are documented but not executed. Wazuh active response was left disabled, so blocking is manual.</a:t>
            </a:r>
            <a:endParaRPr lang="en-IN" sz="2000" b="0" u="none" strike="noStrike">
              <a:solidFill>
                <a:srgbClr val="000000"/>
              </a:solidFill>
              <a:effectLst/>
              <a:uFillTx/>
              <a:latin typeface="Arial"/>
            </a:endParaRPr>
          </a:p>
        </p:txBody>
      </p:sp>
      <p:sp>
        <p:nvSpPr>
          <p:cNvPr id="23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B4B47FE-8A26-49C0-B197-998899664DB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Dataset A is the dashboard overview (123 alerts in 24 hours). Dataset B is the 10 alert types reviewed for this incident: 2 High (5763, 5715), 6 Medium, 2 Low (Snort 1:1000001 and 5501), none Critical. Improvements: thresholded Snort rule for port 22, key-only SSH with no root login and MFA, enforced NTP, and testing Wazuh active response.</a:t>
            </a:r>
            <a:endParaRPr lang="en-IN" sz="2000" b="0" u="none" strike="noStrike">
              <a:solidFill>
                <a:srgbClr val="000000"/>
              </a:solidFill>
              <a:effectLst/>
              <a:uFillTx/>
              <a:latin typeface="Arial"/>
            </a:endParaRPr>
          </a:p>
        </p:txBody>
      </p:sp>
      <p:sp>
        <p:nvSpPr>
          <p:cNvPr id="23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901E5CF-EB45-49C5-B6DF-EAE1EBE1A371}"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DARK">
    <p:bg>
      <p:bgPr>
        <a:solidFill>
          <a:schemeClr val="dk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n-IN" sz="1800" b="0" u="none" strike="noStrike">
                <a:solidFill>
                  <a:schemeClr val="dk1"/>
                </a:solidFill>
                <a:effectLst/>
                <a:uFillTx/>
                <a:latin typeface="Calibri"/>
              </a:defRPr>
            </a:lvl1pPr>
          </a:lstStyle>
          <a:p>
            <a:pPr indent="0" algn="l">
              <a:buNone/>
            </a:pPr>
            <a:r>
              <a:rPr lang="en-IN" sz="1800" b="0" u="none" strike="noStrike">
                <a:solidFill>
                  <a:schemeClr val="dk1"/>
                </a:solidFill>
                <a:effectLst/>
                <a:uFillTx/>
                <a:latin typeface="Calibri"/>
              </a:rPr>
              <a:t>Click to edit the title text format</a:t>
            </a:r>
            <a:endParaRPr lang="en-IN"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FFFFFF"/>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FFFFFF"/>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FFFFFF"/>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FFFFFF"/>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FFFFFF"/>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FFFFFF"/>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_T">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320"/>
            <a:ext cx="8229240" cy="731160"/>
          </a:xfrm>
          <a:prstGeom prst="rect">
            <a:avLst/>
          </a:prstGeom>
          <a:noFill/>
          <a:ln w="0">
            <a:noFill/>
          </a:ln>
        </p:spPr>
        <p:txBody>
          <a:bodyPr lIns="90000" tIns="45000" rIns="90000" bIns="45000" anchor="t">
            <a:noAutofit/>
          </a:bodyPr>
          <a:lstStyle>
            <a:lvl1pPr indent="0" algn="l">
              <a:buNone/>
              <a:defRPr lang="en-IN" sz="3200" b="0" u="none" strike="noStrike">
                <a:solidFill>
                  <a:schemeClr val="dk1"/>
                </a:solidFill>
                <a:effectLst/>
                <a:uFillTx/>
                <a:latin typeface="Calibri"/>
              </a:defRPr>
            </a:lvl1pPr>
          </a:lstStyle>
          <a:p>
            <a:pPr indent="0" algn="l">
              <a:buNone/>
            </a:pPr>
            <a:r>
              <a:rPr lang="en-IN" sz="3200" b="0" u="none" strike="noStrike">
                <a:solidFill>
                  <a:schemeClr val="dk1"/>
                </a:solidFill>
                <a:effectLst/>
                <a:uFillTx/>
                <a:latin typeface="Calibri"/>
              </a:rPr>
              <a:t>Click to edit the title text format</a:t>
            </a:r>
            <a:endParaRPr lang="en-IN" sz="3200" b="0" u="none" strike="noStrike">
              <a:solidFill>
                <a:schemeClr val="dk1"/>
              </a:solidFill>
              <a:effectLst/>
              <a:uFillTx/>
              <a:latin typeface="Calibri"/>
            </a:endParaRPr>
          </a:p>
        </p:txBody>
      </p:sp>
      <p:sp>
        <p:nvSpPr>
          <p:cNvPr id="5" name="PlaceHolder 2"/>
          <p:cNvSpPr>
            <a:spLocks noGrp="1"/>
          </p:cNvSpPr>
          <p:nvPr>
            <p:ph type="sldNum" idx="1"/>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01B65102-38CA-42FC-B140-28EC711B9736}"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
        <p:nvSpPr>
          <p:cNvPr id="6"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slideLayout" Target="../slideLayouts/slideLayout3.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3.xml"/><Relationship Id="rId3"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Kicker"/>
          <p:cNvSpPr/>
          <p:nvPr/>
        </p:nvSpPr>
        <p:spPr>
          <a:xfrm>
            <a:off x="548640" y="640080"/>
            <a:ext cx="493740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pc="300" strike="noStrike">
                <a:solidFill>
                  <a:schemeClr val="accent4"/>
                </a:solidFill>
                <a:effectLst/>
                <a:uFillTx/>
                <a:latin typeface="Calibri"/>
              </a:rPr>
              <a:t>WEEK 12  ·  SOC FINAL CAPSTONE</a:t>
            </a:r>
            <a:endParaRPr lang="en-IN" sz="1200" b="0" u="none" strike="noStrike">
              <a:solidFill>
                <a:srgbClr val="FFFFFF"/>
              </a:solidFill>
              <a:effectLst/>
              <a:uFillTx/>
              <a:latin typeface="Arial"/>
            </a:endParaRPr>
          </a:p>
        </p:txBody>
      </p:sp>
      <p:sp>
        <p:nvSpPr>
          <p:cNvPr id="14" name="DeckTitle"/>
          <p:cNvSpPr/>
          <p:nvPr/>
        </p:nvSpPr>
        <p:spPr>
          <a:xfrm>
            <a:off x="548640" y="1097280"/>
            <a:ext cx="493740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800" b="1" u="none" strike="noStrike">
                <a:solidFill>
                  <a:schemeClr val="lt1"/>
                </a:solidFill>
                <a:effectLst/>
                <a:uFillTx/>
                <a:latin typeface="Cambria"/>
                <a:ea typeface="Cambria"/>
              </a:rPr>
              <a:t>Threat Detection &amp; Incident Response</a:t>
            </a:r>
            <a:endParaRPr lang="en-IN" sz="3800" b="0" u="none" strike="noStrike">
              <a:solidFill>
                <a:srgbClr val="FFFFFF"/>
              </a:solidFill>
              <a:effectLst/>
              <a:uFillTx/>
              <a:latin typeface="Arial"/>
            </a:endParaRPr>
          </a:p>
        </p:txBody>
      </p:sp>
      <p:sp>
        <p:nvSpPr>
          <p:cNvPr id="15" name="Subtitle"/>
          <p:cNvSpPr/>
          <p:nvPr/>
        </p:nvSpPr>
        <p:spPr>
          <a:xfrm>
            <a:off x="548640" y="2743200"/>
            <a:ext cx="475452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lt2"/>
                </a:solidFill>
                <a:effectLst/>
                <a:uFillTx/>
                <a:latin typeface="Calibri"/>
              </a:rPr>
              <a:t>A multi-stage incident detected, correlated and handled with Wazuh and Snort in an authorised lab</a:t>
            </a:r>
            <a:endParaRPr lang="en-IN" sz="1600" b="0" u="none" strike="noStrike">
              <a:solidFill>
                <a:srgbClr val="FFFFFF"/>
              </a:solidFill>
              <a:effectLst/>
              <a:uFillTx/>
              <a:latin typeface="Arial"/>
            </a:endParaRPr>
          </a:p>
        </p:txBody>
      </p:sp>
      <p:sp>
        <p:nvSpPr>
          <p:cNvPr id="16" name="Candidate"/>
          <p:cNvSpPr/>
          <p:nvPr/>
        </p:nvSpPr>
        <p:spPr>
          <a:xfrm>
            <a:off x="548640" y="4114800"/>
            <a:ext cx="512028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lt2"/>
                </a:solidFill>
                <a:effectLst/>
                <a:uFillTx/>
                <a:latin typeface="Calibri"/>
              </a:rPr>
              <a:t>Md Mohtasim</a:t>
            </a:r>
            <a:endParaRPr lang="en-IN"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chemeClr val="lt2"/>
                </a:solidFill>
                <a:effectLst/>
                <a:uFillTx/>
                <a:latin typeface="Calibri"/>
              </a:rPr>
              <a:t>DG/JULY/CYBER/017  ·  DG Interns Hub  ·  </a:t>
            </a:r>
            <a:endParaRPr lang="en-IN" sz="1300" b="0" u="none" strike="noStrike">
              <a:solidFill>
                <a:srgbClr val="FFFFFF"/>
              </a:solidFill>
              <a:effectLst/>
              <a:uFillTx/>
              <a:latin typeface="Arial"/>
            </a:endParaRPr>
          </a:p>
        </p:txBody>
      </p:sp>
      <p:sp>
        <p:nvSpPr>
          <p:cNvPr id="17" name="StageCard1"/>
          <p:cNvSpPr/>
          <p:nvPr/>
        </p:nvSpPr>
        <p:spPr>
          <a:xfrm>
            <a:off x="5852160" y="914400"/>
            <a:ext cx="2834280" cy="959760"/>
          </a:xfrm>
          <a:prstGeom prst="roundRect">
            <a:avLst>
              <a:gd name="adj" fmla="val 11429"/>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8" name="StageNum1"/>
          <p:cNvSpPr/>
          <p:nvPr/>
        </p:nvSpPr>
        <p:spPr>
          <a:xfrm>
            <a:off x="6035040" y="116136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1"/>
                </a:solidFill>
                <a:effectLst/>
                <a:uFillTx/>
                <a:latin typeface="Calibri"/>
              </a:rPr>
              <a:t>1</a:t>
            </a:r>
            <a:endParaRPr lang="en-IN" sz="1600" b="0" u="none" strike="noStrike">
              <a:solidFill>
                <a:srgbClr val="000000"/>
              </a:solidFill>
              <a:effectLst/>
              <a:uFillTx/>
              <a:latin typeface="Arial"/>
            </a:endParaRPr>
          </a:p>
        </p:txBody>
      </p:sp>
      <p:sp>
        <p:nvSpPr>
          <p:cNvPr id="19" name="Text 6"/>
          <p:cNvSpPr/>
          <p:nvPr/>
        </p:nvSpPr>
        <p:spPr>
          <a:xfrm>
            <a:off x="6675120" y="1097280"/>
            <a:ext cx="19198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lt1"/>
                </a:solidFill>
                <a:effectLst/>
                <a:uFillTx/>
                <a:latin typeface="Calibri"/>
              </a:rPr>
              <a:t>Reconnaissance</a:t>
            </a:r>
            <a:endParaRPr lang="en-IN" sz="1500" b="0" u="none" strike="noStrike">
              <a:solidFill>
                <a:srgbClr val="FFFFFF"/>
              </a:solidFill>
              <a:effectLst/>
              <a:uFillTx/>
              <a:latin typeface="Arial"/>
            </a:endParaRPr>
          </a:p>
        </p:txBody>
      </p:sp>
      <p:sp>
        <p:nvSpPr>
          <p:cNvPr id="20" name="Text 7"/>
          <p:cNvSpPr/>
          <p:nvPr/>
        </p:nvSpPr>
        <p:spPr>
          <a:xfrm>
            <a:off x="6675120" y="1389960"/>
            <a:ext cx="191988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lt2"/>
                </a:solidFill>
                <a:effectLst/>
                <a:uFillTx/>
                <a:latin typeface="Calibri"/>
              </a:rPr>
              <a:t>ICMP probing · Snort</a:t>
            </a:r>
            <a:endParaRPr lang="en-IN" sz="1200" b="0" u="none" strike="noStrike">
              <a:solidFill>
                <a:srgbClr val="FFFFFF"/>
              </a:solidFill>
              <a:effectLst/>
              <a:uFillTx/>
              <a:latin typeface="Arial"/>
            </a:endParaRPr>
          </a:p>
        </p:txBody>
      </p:sp>
      <p:sp>
        <p:nvSpPr>
          <p:cNvPr id="21" name="StageCard2"/>
          <p:cNvSpPr/>
          <p:nvPr/>
        </p:nvSpPr>
        <p:spPr>
          <a:xfrm>
            <a:off x="5852160" y="2103120"/>
            <a:ext cx="2834280" cy="959760"/>
          </a:xfrm>
          <a:prstGeom prst="roundRect">
            <a:avLst>
              <a:gd name="adj" fmla="val 11429"/>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2" name="StageNum2"/>
          <p:cNvSpPr/>
          <p:nvPr/>
        </p:nvSpPr>
        <p:spPr>
          <a:xfrm>
            <a:off x="6035040" y="235008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1"/>
                </a:solidFill>
                <a:effectLst/>
                <a:uFillTx/>
                <a:latin typeface="Calibri"/>
              </a:rPr>
              <a:t>2</a:t>
            </a:r>
            <a:endParaRPr lang="en-IN" sz="1600" b="0" u="none" strike="noStrike">
              <a:solidFill>
                <a:srgbClr val="000000"/>
              </a:solidFill>
              <a:effectLst/>
              <a:uFillTx/>
              <a:latin typeface="Arial"/>
            </a:endParaRPr>
          </a:p>
        </p:txBody>
      </p:sp>
      <p:sp>
        <p:nvSpPr>
          <p:cNvPr id="23" name="Text 10"/>
          <p:cNvSpPr/>
          <p:nvPr/>
        </p:nvSpPr>
        <p:spPr>
          <a:xfrm>
            <a:off x="6675120" y="2286000"/>
            <a:ext cx="19198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lt1"/>
                </a:solidFill>
                <a:effectLst/>
                <a:uFillTx/>
                <a:latin typeface="Calibri"/>
              </a:rPr>
              <a:t>Authentication</a:t>
            </a:r>
            <a:endParaRPr lang="en-IN" sz="1500" b="0" u="none" strike="noStrike">
              <a:solidFill>
                <a:srgbClr val="FFFFFF"/>
              </a:solidFill>
              <a:effectLst/>
              <a:uFillTx/>
              <a:latin typeface="Arial"/>
            </a:endParaRPr>
          </a:p>
        </p:txBody>
      </p:sp>
      <p:sp>
        <p:nvSpPr>
          <p:cNvPr id="24" name="Text 11"/>
          <p:cNvSpPr/>
          <p:nvPr/>
        </p:nvSpPr>
        <p:spPr>
          <a:xfrm>
            <a:off x="6675120" y="2578680"/>
            <a:ext cx="191988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lt2"/>
                </a:solidFill>
                <a:effectLst/>
                <a:uFillTx/>
                <a:latin typeface="Calibri"/>
              </a:rPr>
              <a:t>Failed SSH, then success · Wazuh</a:t>
            </a:r>
            <a:endParaRPr lang="en-IN" sz="1200" b="0" u="none" strike="noStrike">
              <a:solidFill>
                <a:srgbClr val="FFFFFF"/>
              </a:solidFill>
              <a:effectLst/>
              <a:uFillTx/>
              <a:latin typeface="Arial"/>
            </a:endParaRPr>
          </a:p>
        </p:txBody>
      </p:sp>
      <p:sp>
        <p:nvSpPr>
          <p:cNvPr id="25" name="StageCard3"/>
          <p:cNvSpPr/>
          <p:nvPr/>
        </p:nvSpPr>
        <p:spPr>
          <a:xfrm>
            <a:off x="5852160" y="3291840"/>
            <a:ext cx="2834280" cy="959760"/>
          </a:xfrm>
          <a:prstGeom prst="roundRect">
            <a:avLst>
              <a:gd name="adj" fmla="val 11429"/>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 name="StageNum3"/>
          <p:cNvSpPr/>
          <p:nvPr/>
        </p:nvSpPr>
        <p:spPr>
          <a:xfrm>
            <a:off x="6035040" y="353880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1"/>
                </a:solidFill>
                <a:effectLst/>
                <a:uFillTx/>
                <a:latin typeface="Calibri"/>
              </a:rPr>
              <a:t>3</a:t>
            </a:r>
            <a:endParaRPr lang="en-IN" sz="1600" b="0" u="none" strike="noStrike">
              <a:solidFill>
                <a:srgbClr val="000000"/>
              </a:solidFill>
              <a:effectLst/>
              <a:uFillTx/>
              <a:latin typeface="Arial"/>
            </a:endParaRPr>
          </a:p>
        </p:txBody>
      </p:sp>
      <p:sp>
        <p:nvSpPr>
          <p:cNvPr id="27" name="Text 14"/>
          <p:cNvSpPr/>
          <p:nvPr/>
        </p:nvSpPr>
        <p:spPr>
          <a:xfrm>
            <a:off x="6675120" y="3474720"/>
            <a:ext cx="19198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lt1"/>
                </a:solidFill>
                <a:effectLst/>
                <a:uFillTx/>
                <a:latin typeface="Calibri"/>
              </a:rPr>
              <a:t>System / file</a:t>
            </a:r>
            <a:endParaRPr lang="en-IN" sz="1500" b="0" u="none" strike="noStrike">
              <a:solidFill>
                <a:srgbClr val="FFFFFF"/>
              </a:solidFill>
              <a:effectLst/>
              <a:uFillTx/>
              <a:latin typeface="Arial"/>
            </a:endParaRPr>
          </a:p>
        </p:txBody>
      </p:sp>
      <p:sp>
        <p:nvSpPr>
          <p:cNvPr id="28" name="Text 15"/>
          <p:cNvSpPr/>
          <p:nvPr/>
        </p:nvSpPr>
        <p:spPr>
          <a:xfrm>
            <a:off x="6675120" y="3767400"/>
            <a:ext cx="191988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lt2"/>
                </a:solidFill>
                <a:effectLst/>
                <a:uFillTx/>
                <a:latin typeface="Calibri"/>
              </a:rPr>
              <a:t>Session, sudo, FIM · Wazuh</a:t>
            </a:r>
            <a:endParaRPr lang="en-IN"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hasCustomPrompt="1"/>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1"/>
                </a:solidFill>
                <a:effectLst/>
                <a:uFillTx/>
                <a:latin typeface="Cambria"/>
              </a:rPr>
              <a:t>Lab and Scenario</a:t>
            </a:r>
            <a:endParaRPr lang="en-IN" sz="3200" b="0" u="none" strike="noStrike">
              <a:solidFill>
                <a:schemeClr val="dk1"/>
              </a:solidFill>
              <a:effectLst/>
              <a:uFillTx/>
              <a:latin typeface="Calibri"/>
            </a:endParaRPr>
          </a:p>
        </p:txBody>
      </p:sp>
      <p:pic>
        <p:nvPicPr>
          <p:cNvPr id="30" name="ArchitectureFigure" descr="Lab architecture: attacker host, Snort IDS, Ubuntu endpoint with Wazuh agent, Wazuh server"/>
          <p:cNvPicPr/>
          <p:nvPr/>
        </p:nvPicPr>
        <p:blipFill>
          <a:blip r:embed="rId1"/>
          <a:stretch/>
        </p:blipFill>
        <p:spPr>
          <a:xfrm>
            <a:off x="457200" y="1188720"/>
            <a:ext cx="4845960" cy="2280960"/>
          </a:xfrm>
          <a:prstGeom prst="rect">
            <a:avLst/>
          </a:prstGeom>
          <a:noFill/>
          <a:ln w="0">
            <a:noFill/>
          </a:ln>
        </p:spPr>
      </p:pic>
      <p:sp>
        <p:nvSpPr>
          <p:cNvPr id="31" name="Text 1"/>
          <p:cNvSpPr/>
          <p:nvPr/>
        </p:nvSpPr>
        <p:spPr>
          <a:xfrm>
            <a:off x="457200" y="3543120"/>
            <a:ext cx="484596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chemeClr val="accent5"/>
                </a:solidFill>
                <a:effectLst/>
                <a:uFillTx/>
                <a:latin typeface="Calibri"/>
              </a:rPr>
              <a:t>Figure 1 · Snort passive on enp0s8, agent events to Wazuh</a:t>
            </a:r>
            <a:endParaRPr lang="en-IN" sz="1100" b="0" u="none" strike="noStrike">
              <a:solidFill>
                <a:srgbClr val="000000"/>
              </a:solidFill>
              <a:effectLst/>
              <a:uFillTx/>
              <a:latin typeface="Arial"/>
            </a:endParaRPr>
          </a:p>
        </p:txBody>
      </p:sp>
      <p:sp>
        <p:nvSpPr>
          <p:cNvPr id="32" name="ScenarioCard1"/>
          <p:cNvSpPr/>
          <p:nvPr/>
        </p:nvSpPr>
        <p:spPr>
          <a:xfrm>
            <a:off x="5577840" y="1188720"/>
            <a:ext cx="3108600" cy="731160"/>
          </a:xfrm>
          <a:prstGeom prst="roundRect">
            <a:avLst>
              <a:gd name="adj" fmla="val 15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 name="ScenNum1"/>
          <p:cNvSpPr/>
          <p:nvPr/>
        </p:nvSpPr>
        <p:spPr>
          <a:xfrm>
            <a:off x="5715000" y="1371600"/>
            <a:ext cx="365400" cy="36540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1</a:t>
            </a:r>
            <a:endParaRPr lang="en-IN" sz="1400" b="0" u="none" strike="noStrike">
              <a:solidFill>
                <a:srgbClr val="FFFFFF"/>
              </a:solidFill>
              <a:effectLst/>
              <a:uFillTx/>
              <a:latin typeface="Arial"/>
            </a:endParaRPr>
          </a:p>
        </p:txBody>
      </p:sp>
      <p:sp>
        <p:nvSpPr>
          <p:cNvPr id="34" name="Text 4"/>
          <p:cNvSpPr/>
          <p:nvPr/>
        </p:nvSpPr>
        <p:spPr>
          <a:xfrm>
            <a:off x="6217920" y="1298520"/>
            <a:ext cx="23770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Reconnaissance</a:t>
            </a:r>
            <a:endParaRPr lang="en-IN" sz="1400" b="0" u="none" strike="noStrike">
              <a:solidFill>
                <a:srgbClr val="000000"/>
              </a:solidFill>
              <a:effectLst/>
              <a:uFillTx/>
              <a:latin typeface="Arial"/>
            </a:endParaRPr>
          </a:p>
        </p:txBody>
      </p:sp>
      <p:sp>
        <p:nvSpPr>
          <p:cNvPr id="35" name="Text 5"/>
          <p:cNvSpPr/>
          <p:nvPr/>
        </p:nvSpPr>
        <p:spPr>
          <a:xfrm>
            <a:off x="6217920" y="1572840"/>
            <a:ext cx="23770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5"/>
                </a:solidFill>
                <a:effectLst/>
                <a:uFillTx/>
                <a:latin typeface="Calibri"/>
              </a:rPr>
              <a:t>ICMP ping, seen by Snort</a:t>
            </a:r>
            <a:endParaRPr lang="en-IN" sz="1200" b="0" u="none" strike="noStrike">
              <a:solidFill>
                <a:srgbClr val="000000"/>
              </a:solidFill>
              <a:effectLst/>
              <a:uFillTx/>
              <a:latin typeface="Arial"/>
            </a:endParaRPr>
          </a:p>
        </p:txBody>
      </p:sp>
      <p:sp>
        <p:nvSpPr>
          <p:cNvPr id="36" name="ScenarioCard2"/>
          <p:cNvSpPr/>
          <p:nvPr/>
        </p:nvSpPr>
        <p:spPr>
          <a:xfrm>
            <a:off x="5577840" y="2011680"/>
            <a:ext cx="3108600" cy="731160"/>
          </a:xfrm>
          <a:prstGeom prst="roundRect">
            <a:avLst>
              <a:gd name="adj" fmla="val 15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 name="ScenNum2"/>
          <p:cNvSpPr/>
          <p:nvPr/>
        </p:nvSpPr>
        <p:spPr>
          <a:xfrm>
            <a:off x="5715000" y="2194560"/>
            <a:ext cx="365400" cy="36540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2</a:t>
            </a:r>
            <a:endParaRPr lang="en-IN" sz="1400" b="0" u="none" strike="noStrike">
              <a:solidFill>
                <a:srgbClr val="FFFFFF"/>
              </a:solidFill>
              <a:effectLst/>
              <a:uFillTx/>
              <a:latin typeface="Arial"/>
            </a:endParaRPr>
          </a:p>
        </p:txBody>
      </p:sp>
      <p:sp>
        <p:nvSpPr>
          <p:cNvPr id="38" name="Text 8"/>
          <p:cNvSpPr/>
          <p:nvPr/>
        </p:nvSpPr>
        <p:spPr>
          <a:xfrm>
            <a:off x="6217920" y="2121480"/>
            <a:ext cx="23770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Authentication</a:t>
            </a:r>
            <a:endParaRPr lang="en-IN" sz="1400" b="0" u="none" strike="noStrike">
              <a:solidFill>
                <a:srgbClr val="000000"/>
              </a:solidFill>
              <a:effectLst/>
              <a:uFillTx/>
              <a:latin typeface="Arial"/>
            </a:endParaRPr>
          </a:p>
        </p:txBody>
      </p:sp>
      <p:sp>
        <p:nvSpPr>
          <p:cNvPr id="39" name="Text 9"/>
          <p:cNvSpPr/>
          <p:nvPr/>
        </p:nvSpPr>
        <p:spPr>
          <a:xfrm>
            <a:off x="6217920" y="2395800"/>
            <a:ext cx="23770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5"/>
                </a:solidFill>
                <a:effectLst/>
                <a:uFillTx/>
                <a:latin typeface="Calibri"/>
              </a:rPr>
              <a:t>Failed SSH logins, then success</a:t>
            </a:r>
            <a:endParaRPr lang="en-IN" sz="1200" b="0" u="none" strike="noStrike">
              <a:solidFill>
                <a:srgbClr val="000000"/>
              </a:solidFill>
              <a:effectLst/>
              <a:uFillTx/>
              <a:latin typeface="Arial"/>
            </a:endParaRPr>
          </a:p>
        </p:txBody>
      </p:sp>
      <p:sp>
        <p:nvSpPr>
          <p:cNvPr id="40" name="ScenarioCard3"/>
          <p:cNvSpPr/>
          <p:nvPr/>
        </p:nvSpPr>
        <p:spPr>
          <a:xfrm>
            <a:off x="5577840" y="2834640"/>
            <a:ext cx="3108600" cy="731160"/>
          </a:xfrm>
          <a:prstGeom prst="roundRect">
            <a:avLst>
              <a:gd name="adj" fmla="val 15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 name="ScenNum3"/>
          <p:cNvSpPr/>
          <p:nvPr/>
        </p:nvSpPr>
        <p:spPr>
          <a:xfrm>
            <a:off x="5715000" y="3017520"/>
            <a:ext cx="365400" cy="36540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3</a:t>
            </a:r>
            <a:endParaRPr lang="en-IN" sz="1400" b="0" u="none" strike="noStrike">
              <a:solidFill>
                <a:srgbClr val="FFFFFF"/>
              </a:solidFill>
              <a:effectLst/>
              <a:uFillTx/>
              <a:latin typeface="Arial"/>
            </a:endParaRPr>
          </a:p>
        </p:txBody>
      </p:sp>
      <p:sp>
        <p:nvSpPr>
          <p:cNvPr id="42" name="Text 12"/>
          <p:cNvSpPr/>
          <p:nvPr/>
        </p:nvSpPr>
        <p:spPr>
          <a:xfrm>
            <a:off x="6217920" y="2944440"/>
            <a:ext cx="23770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System / file</a:t>
            </a:r>
            <a:endParaRPr lang="en-IN" sz="1400" b="0" u="none" strike="noStrike">
              <a:solidFill>
                <a:srgbClr val="000000"/>
              </a:solidFill>
              <a:effectLst/>
              <a:uFillTx/>
              <a:latin typeface="Arial"/>
            </a:endParaRPr>
          </a:p>
        </p:txBody>
      </p:sp>
      <p:sp>
        <p:nvSpPr>
          <p:cNvPr id="43" name="Text 13"/>
          <p:cNvSpPr/>
          <p:nvPr/>
        </p:nvSpPr>
        <p:spPr>
          <a:xfrm>
            <a:off x="6217920" y="3218760"/>
            <a:ext cx="23770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chemeClr val="accent5"/>
                </a:solidFill>
                <a:effectLst/>
                <a:uFillTx/>
                <a:latin typeface="Calibri"/>
              </a:rPr>
              <a:t>Session, sudo to root, FIM change</a:t>
            </a:r>
            <a:endParaRPr lang="en-IN" sz="1200" b="0" u="none" strike="noStrike">
              <a:solidFill>
                <a:srgbClr val="000000"/>
              </a:solidFill>
              <a:effectLst/>
              <a:uFillTx/>
              <a:latin typeface="Arial"/>
            </a:endParaRPr>
          </a:p>
        </p:txBody>
      </p:sp>
      <p:sp>
        <p:nvSpPr>
          <p:cNvPr id="44" name="FactChip1"/>
          <p:cNvSpPr/>
          <p:nvPr/>
        </p:nvSpPr>
        <p:spPr>
          <a:xfrm>
            <a:off x="457200" y="3840480"/>
            <a:ext cx="1919880" cy="685440"/>
          </a:xfrm>
          <a:prstGeom prst="roundRect">
            <a:avLst>
              <a:gd name="adj" fmla="val 16000"/>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5" name="Text 15"/>
          <p:cNvSpPr/>
          <p:nvPr/>
        </p:nvSpPr>
        <p:spPr>
          <a:xfrm>
            <a:off x="548640" y="3840480"/>
            <a:ext cx="173700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Host-only 192.168.56.0/24</a:t>
            </a:r>
            <a:endParaRPr lang="en-IN" sz="1300" b="0" u="none" strike="noStrike">
              <a:solidFill>
                <a:srgbClr val="000000"/>
              </a:solidFill>
              <a:effectLst/>
              <a:uFillTx/>
              <a:latin typeface="Arial"/>
            </a:endParaRPr>
          </a:p>
        </p:txBody>
      </p:sp>
      <p:sp>
        <p:nvSpPr>
          <p:cNvPr id="46" name="FactChip2"/>
          <p:cNvSpPr/>
          <p:nvPr/>
        </p:nvSpPr>
        <p:spPr>
          <a:xfrm>
            <a:off x="2560320" y="3840480"/>
            <a:ext cx="1919880" cy="685440"/>
          </a:xfrm>
          <a:prstGeom prst="roundRect">
            <a:avLst>
              <a:gd name="adj" fmla="val 16000"/>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7" name="Text 17"/>
          <p:cNvSpPr/>
          <p:nvPr/>
        </p:nvSpPr>
        <p:spPr>
          <a:xfrm>
            <a:off x="2651760" y="3840480"/>
            <a:ext cx="173700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Endpoint 192.168.56.40</a:t>
            </a:r>
            <a:endParaRPr lang="en-IN" sz="1300" b="0" u="none" strike="noStrike">
              <a:solidFill>
                <a:srgbClr val="000000"/>
              </a:solidFill>
              <a:effectLst/>
              <a:uFillTx/>
              <a:latin typeface="Arial"/>
            </a:endParaRPr>
          </a:p>
        </p:txBody>
      </p:sp>
      <p:sp>
        <p:nvSpPr>
          <p:cNvPr id="48" name="FactChip3"/>
          <p:cNvSpPr/>
          <p:nvPr/>
        </p:nvSpPr>
        <p:spPr>
          <a:xfrm>
            <a:off x="4663440" y="3840480"/>
            <a:ext cx="1919880" cy="685440"/>
          </a:xfrm>
          <a:prstGeom prst="roundRect">
            <a:avLst>
              <a:gd name="adj" fmla="val 16000"/>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9" name="Text 19"/>
          <p:cNvSpPr/>
          <p:nvPr/>
        </p:nvSpPr>
        <p:spPr>
          <a:xfrm>
            <a:off x="4754880" y="3840480"/>
            <a:ext cx="173700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Wazuh manager 4.14.8</a:t>
            </a:r>
            <a:endParaRPr lang="en-IN" sz="1300" b="0" u="none" strike="noStrike">
              <a:solidFill>
                <a:srgbClr val="000000"/>
              </a:solidFill>
              <a:effectLst/>
              <a:uFillTx/>
              <a:latin typeface="Arial"/>
            </a:endParaRPr>
          </a:p>
        </p:txBody>
      </p:sp>
      <p:sp>
        <p:nvSpPr>
          <p:cNvPr id="50" name="FactChip4"/>
          <p:cNvSpPr/>
          <p:nvPr/>
        </p:nvSpPr>
        <p:spPr>
          <a:xfrm>
            <a:off x="6766560" y="3840480"/>
            <a:ext cx="1919880" cy="685440"/>
          </a:xfrm>
          <a:prstGeom prst="roundRect">
            <a:avLst>
              <a:gd name="adj" fmla="val 16000"/>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51" name="Text 21"/>
          <p:cNvSpPr/>
          <p:nvPr/>
        </p:nvSpPr>
        <p:spPr>
          <a:xfrm>
            <a:off x="6858000" y="3840480"/>
            <a:ext cx="173700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Snort on interface enp0s8</a:t>
            </a:r>
            <a:endParaRPr lang="en-IN" sz="1300" b="0" u="none" strike="noStrike">
              <a:solidFill>
                <a:srgbClr val="000000"/>
              </a:solidFill>
              <a:effectLst/>
              <a:uFillTx/>
              <a:latin typeface="Arial"/>
            </a:endParaRPr>
          </a:p>
        </p:txBody>
      </p:sp>
      <p:sp>
        <p:nvSpPr>
          <p:cNvPr id="52" name="PlaceHolder 2"/>
          <p:cNvSpPr>
            <a:spLocks noGrp="1"/>
          </p:cNvSpPr>
          <p:nvPr>
            <p:ph type="sldNum" idx="5"/>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B54D32BD-F761-41F2-A316-80ADFC4A7EAA}"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hasCustomPrompt="1"/>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1"/>
                </a:solidFill>
                <a:effectLst/>
                <a:uFillTx/>
                <a:latin typeface="Cambria"/>
              </a:rPr>
              <a:t>Lab Validation</a:t>
            </a:r>
            <a:endParaRPr lang="en-IN" sz="3200" b="0" u="none" strike="noStrike">
              <a:solidFill>
                <a:schemeClr val="dk1"/>
              </a:solidFill>
              <a:effectLst/>
              <a:uFillTx/>
              <a:latin typeface="Calibri"/>
            </a:endParaRPr>
          </a:p>
        </p:txBody>
      </p:sp>
      <p:pic>
        <p:nvPicPr>
          <p:cNvPr id="54" name="DashboardFigure" descr="Wazuh dashboard overview, last 24 hours alerts by severity"/>
          <p:cNvPicPr/>
          <p:nvPr/>
        </p:nvPicPr>
        <p:blipFill>
          <a:blip r:embed="rId1"/>
          <a:stretch/>
        </p:blipFill>
        <p:spPr>
          <a:xfrm>
            <a:off x="457200" y="1188720"/>
            <a:ext cx="4023000" cy="1893960"/>
          </a:xfrm>
          <a:prstGeom prst="rect">
            <a:avLst/>
          </a:prstGeom>
          <a:noFill/>
          <a:ln w="0">
            <a:noFill/>
          </a:ln>
        </p:spPr>
      </p:pic>
      <p:pic>
        <p:nvPicPr>
          <p:cNvPr id="55" name="ManagerFigure" descr="Wazuh manager status page showing Active and services running"/>
          <p:cNvPicPr/>
          <p:nvPr/>
        </p:nvPicPr>
        <p:blipFill>
          <a:blip r:embed="rId2"/>
          <a:stretch/>
        </p:blipFill>
        <p:spPr>
          <a:xfrm>
            <a:off x="4663440" y="1188720"/>
            <a:ext cx="4023000" cy="1766160"/>
          </a:xfrm>
          <a:prstGeom prst="rect">
            <a:avLst/>
          </a:prstGeom>
          <a:noFill/>
          <a:ln w="0">
            <a:noFill/>
          </a:ln>
        </p:spPr>
      </p:pic>
      <p:sp>
        <p:nvSpPr>
          <p:cNvPr id="56" name="Text 1"/>
          <p:cNvSpPr/>
          <p:nvPr/>
        </p:nvSpPr>
        <p:spPr>
          <a:xfrm>
            <a:off x="457200" y="3156480"/>
            <a:ext cx="402300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chemeClr val="accent5"/>
                </a:solidFill>
                <a:effectLst/>
                <a:uFillTx/>
                <a:latin typeface="Calibri"/>
              </a:rPr>
              <a:t>Figure 2 · Alerts by severity, last 24 h</a:t>
            </a:r>
            <a:endParaRPr lang="en-IN" sz="1100" b="0" u="none" strike="noStrike">
              <a:solidFill>
                <a:srgbClr val="000000"/>
              </a:solidFill>
              <a:effectLst/>
              <a:uFillTx/>
              <a:latin typeface="Arial"/>
            </a:endParaRPr>
          </a:p>
        </p:txBody>
      </p:sp>
      <p:sp>
        <p:nvSpPr>
          <p:cNvPr id="57" name="Text 2"/>
          <p:cNvSpPr/>
          <p:nvPr/>
        </p:nvSpPr>
        <p:spPr>
          <a:xfrm>
            <a:off x="4663440" y="3156480"/>
            <a:ext cx="402300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chemeClr val="accent5"/>
                </a:solidFill>
                <a:effectLst/>
                <a:uFillTx/>
                <a:latin typeface="Calibri"/>
              </a:rPr>
              <a:t>Figure 3 · Manager and indexer services active</a:t>
            </a:r>
            <a:endParaRPr lang="en-IN" sz="1100" b="0" u="none" strike="noStrike">
              <a:solidFill>
                <a:srgbClr val="000000"/>
              </a:solidFill>
              <a:effectLst/>
              <a:uFillTx/>
              <a:latin typeface="Arial"/>
            </a:endParaRPr>
          </a:p>
        </p:txBody>
      </p:sp>
      <p:sp>
        <p:nvSpPr>
          <p:cNvPr id="58" name="StatCard1"/>
          <p:cNvSpPr/>
          <p:nvPr/>
        </p:nvSpPr>
        <p:spPr>
          <a:xfrm>
            <a:off x="457200" y="3520440"/>
            <a:ext cx="1919880" cy="914040"/>
          </a:xfrm>
          <a:prstGeom prst="roundRect">
            <a:avLst>
              <a:gd name="adj" fmla="val 12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9" name="Text 4"/>
          <p:cNvSpPr/>
          <p:nvPr/>
        </p:nvSpPr>
        <p:spPr>
          <a:xfrm>
            <a:off x="457200" y="3566160"/>
            <a:ext cx="191988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800" b="1" u="none" strike="noStrike">
                <a:solidFill>
                  <a:schemeClr val="dk1"/>
                </a:solidFill>
                <a:effectLst/>
                <a:uFillTx/>
                <a:latin typeface="Cambria"/>
                <a:ea typeface="Cambria"/>
              </a:rPr>
              <a:t>0 / 0</a:t>
            </a:r>
            <a:endParaRPr lang="en-IN" sz="2800" b="0" u="none" strike="noStrike">
              <a:solidFill>
                <a:srgbClr val="000000"/>
              </a:solidFill>
              <a:effectLst/>
              <a:uFillTx/>
              <a:latin typeface="Arial"/>
            </a:endParaRPr>
          </a:p>
        </p:txBody>
      </p:sp>
      <p:sp>
        <p:nvSpPr>
          <p:cNvPr id="60" name="Text 5"/>
          <p:cNvSpPr/>
          <p:nvPr/>
        </p:nvSpPr>
        <p:spPr>
          <a:xfrm>
            <a:off x="457200" y="4069080"/>
            <a:ext cx="191988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chemeClr val="accent5"/>
                </a:solidFill>
                <a:effectLst/>
                <a:uFillTx/>
                <a:latin typeface="Calibri"/>
              </a:rPr>
              <a:t>critical / high</a:t>
            </a:r>
            <a:endParaRPr lang="en-IN" sz="1200" b="0" u="none" strike="noStrike">
              <a:solidFill>
                <a:srgbClr val="000000"/>
              </a:solidFill>
              <a:effectLst/>
              <a:uFillTx/>
              <a:latin typeface="Arial"/>
            </a:endParaRPr>
          </a:p>
        </p:txBody>
      </p:sp>
      <p:sp>
        <p:nvSpPr>
          <p:cNvPr id="61" name="StatCard2"/>
          <p:cNvSpPr/>
          <p:nvPr/>
        </p:nvSpPr>
        <p:spPr>
          <a:xfrm>
            <a:off x="2560320" y="3520440"/>
            <a:ext cx="1919880" cy="914040"/>
          </a:xfrm>
          <a:prstGeom prst="roundRect">
            <a:avLst>
              <a:gd name="adj" fmla="val 12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2" name="Text 7"/>
          <p:cNvSpPr/>
          <p:nvPr/>
        </p:nvSpPr>
        <p:spPr>
          <a:xfrm>
            <a:off x="2560320" y="3566160"/>
            <a:ext cx="191988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800" b="1" u="none" strike="noStrike">
                <a:solidFill>
                  <a:schemeClr val="dk1"/>
                </a:solidFill>
                <a:effectLst/>
                <a:uFillTx/>
                <a:latin typeface="Cambria"/>
                <a:ea typeface="Cambria"/>
              </a:rPr>
              <a:t>50</a:t>
            </a:r>
            <a:endParaRPr lang="en-IN" sz="2800" b="0" u="none" strike="noStrike">
              <a:solidFill>
                <a:srgbClr val="000000"/>
              </a:solidFill>
              <a:effectLst/>
              <a:uFillTx/>
              <a:latin typeface="Arial"/>
            </a:endParaRPr>
          </a:p>
        </p:txBody>
      </p:sp>
      <p:sp>
        <p:nvSpPr>
          <p:cNvPr id="63" name="Text 8"/>
          <p:cNvSpPr/>
          <p:nvPr/>
        </p:nvSpPr>
        <p:spPr>
          <a:xfrm>
            <a:off x="2560320" y="4069080"/>
            <a:ext cx="191988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chemeClr val="accent5"/>
                </a:solidFill>
                <a:effectLst/>
                <a:uFillTx/>
                <a:latin typeface="Calibri"/>
              </a:rPr>
              <a:t>medium alerts</a:t>
            </a:r>
            <a:endParaRPr lang="en-IN" sz="1200" b="0" u="none" strike="noStrike">
              <a:solidFill>
                <a:srgbClr val="000000"/>
              </a:solidFill>
              <a:effectLst/>
              <a:uFillTx/>
              <a:latin typeface="Arial"/>
            </a:endParaRPr>
          </a:p>
        </p:txBody>
      </p:sp>
      <p:sp>
        <p:nvSpPr>
          <p:cNvPr id="64" name="StatCard3"/>
          <p:cNvSpPr/>
          <p:nvPr/>
        </p:nvSpPr>
        <p:spPr>
          <a:xfrm>
            <a:off x="4663440" y="3520440"/>
            <a:ext cx="1919880" cy="914040"/>
          </a:xfrm>
          <a:prstGeom prst="roundRect">
            <a:avLst>
              <a:gd name="adj" fmla="val 12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5" name="Text 10"/>
          <p:cNvSpPr/>
          <p:nvPr/>
        </p:nvSpPr>
        <p:spPr>
          <a:xfrm>
            <a:off x="4663440" y="3566160"/>
            <a:ext cx="191988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800" b="1" u="none" strike="noStrike">
                <a:solidFill>
                  <a:schemeClr val="dk1"/>
                </a:solidFill>
                <a:effectLst/>
                <a:uFillTx/>
                <a:latin typeface="Cambria"/>
                <a:ea typeface="Cambria"/>
              </a:rPr>
              <a:t>73</a:t>
            </a:r>
            <a:endParaRPr lang="en-IN" sz="2800" b="0" u="none" strike="noStrike">
              <a:solidFill>
                <a:srgbClr val="000000"/>
              </a:solidFill>
              <a:effectLst/>
              <a:uFillTx/>
              <a:latin typeface="Arial"/>
            </a:endParaRPr>
          </a:p>
        </p:txBody>
      </p:sp>
      <p:sp>
        <p:nvSpPr>
          <p:cNvPr id="66" name="Text 11"/>
          <p:cNvSpPr/>
          <p:nvPr/>
        </p:nvSpPr>
        <p:spPr>
          <a:xfrm>
            <a:off x="4663440" y="4069080"/>
            <a:ext cx="191988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chemeClr val="accent5"/>
                </a:solidFill>
                <a:effectLst/>
                <a:uFillTx/>
                <a:latin typeface="Calibri"/>
              </a:rPr>
              <a:t>low alerts</a:t>
            </a:r>
            <a:endParaRPr lang="en-IN" sz="1200" b="0" u="none" strike="noStrike">
              <a:solidFill>
                <a:srgbClr val="000000"/>
              </a:solidFill>
              <a:effectLst/>
              <a:uFillTx/>
              <a:latin typeface="Arial"/>
            </a:endParaRPr>
          </a:p>
        </p:txBody>
      </p:sp>
      <p:sp>
        <p:nvSpPr>
          <p:cNvPr id="67" name="StatCard4"/>
          <p:cNvSpPr/>
          <p:nvPr/>
        </p:nvSpPr>
        <p:spPr>
          <a:xfrm>
            <a:off x="6766560" y="3520440"/>
            <a:ext cx="1919880" cy="914040"/>
          </a:xfrm>
          <a:prstGeom prst="roundRect">
            <a:avLst>
              <a:gd name="adj" fmla="val 12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8" name="Text 13"/>
          <p:cNvSpPr/>
          <p:nvPr/>
        </p:nvSpPr>
        <p:spPr>
          <a:xfrm>
            <a:off x="6766560" y="3566160"/>
            <a:ext cx="1919880" cy="502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800" b="1" u="none" strike="noStrike">
                <a:solidFill>
                  <a:schemeClr val="dk1"/>
                </a:solidFill>
                <a:effectLst/>
                <a:uFillTx/>
                <a:latin typeface="Cambria"/>
                <a:ea typeface="Cambria"/>
              </a:rPr>
              <a:t>Active</a:t>
            </a:r>
            <a:endParaRPr lang="en-IN" sz="2800" b="0" u="none" strike="noStrike">
              <a:solidFill>
                <a:srgbClr val="000000"/>
              </a:solidFill>
              <a:effectLst/>
              <a:uFillTx/>
              <a:latin typeface="Arial"/>
            </a:endParaRPr>
          </a:p>
        </p:txBody>
      </p:sp>
      <p:sp>
        <p:nvSpPr>
          <p:cNvPr id="69" name="Text 14"/>
          <p:cNvSpPr/>
          <p:nvPr/>
        </p:nvSpPr>
        <p:spPr>
          <a:xfrm>
            <a:off x="6766560" y="4069080"/>
            <a:ext cx="191988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chemeClr val="accent5"/>
                </a:solidFill>
                <a:effectLst/>
                <a:uFillTx/>
                <a:latin typeface="Calibri"/>
              </a:rPr>
              <a:t>manager 4.14.8</a:t>
            </a:r>
            <a:endParaRPr lang="en-IN" sz="1200" b="0" u="none" strike="noStrike">
              <a:solidFill>
                <a:srgbClr val="000000"/>
              </a:solidFill>
              <a:effectLst/>
              <a:uFillTx/>
              <a:latin typeface="Arial"/>
            </a:endParaRPr>
          </a:p>
        </p:txBody>
      </p:sp>
      <p:sp>
        <p:nvSpPr>
          <p:cNvPr id="70" name="Text 15"/>
          <p:cNvSpPr/>
          <p:nvPr/>
        </p:nvSpPr>
        <p:spPr>
          <a:xfrm>
            <a:off x="457200" y="4553640"/>
            <a:ext cx="758916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chemeClr val="accent3"/>
                </a:solidFill>
                <a:effectLst/>
                <a:uFillTx/>
                <a:latin typeface="Calibri"/>
              </a:rPr>
              <a:t>Open item: capture the Agents page showing ubuntu-agent Active (dashboard tile reads “no agents registered”).</a:t>
            </a:r>
            <a:endParaRPr lang="en-IN" sz="1100" b="0" u="none" strike="noStrike">
              <a:solidFill>
                <a:srgbClr val="000000"/>
              </a:solidFill>
              <a:effectLst/>
              <a:uFillTx/>
              <a:latin typeface="Arial"/>
            </a:endParaRPr>
          </a:p>
        </p:txBody>
      </p:sp>
      <p:sp>
        <p:nvSpPr>
          <p:cNvPr id="71" name="PlaceHolder 2"/>
          <p:cNvSpPr>
            <a:spLocks noGrp="1"/>
          </p:cNvSpPr>
          <p:nvPr>
            <p:ph type="sldNum" idx="6"/>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475F32C2-BF01-4394-9B56-3ECCC69AFA1C}"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hasCustomPrompt="1"/>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1"/>
                </a:solidFill>
                <a:effectLst/>
                <a:uFillTx/>
                <a:latin typeface="Cambria"/>
              </a:rPr>
              <a:t>Snort: Network View</a:t>
            </a:r>
            <a:endParaRPr lang="en-IN" sz="3200" b="0" u="none" strike="noStrike">
              <a:solidFill>
                <a:schemeClr val="dk1"/>
              </a:solidFill>
              <a:effectLst/>
              <a:uFillTx/>
              <a:latin typeface="Calibri"/>
            </a:endParaRPr>
          </a:p>
        </p:txBody>
      </p:sp>
      <p:pic>
        <p:nvPicPr>
          <p:cNvPr id="73" name="SnortFigure" descr="Snort console showing repeated CUSTOM ICMP Ping Detected alerts"/>
          <p:cNvPicPr/>
          <p:nvPr/>
        </p:nvPicPr>
        <p:blipFill>
          <a:blip r:embed="rId1"/>
          <a:stretch/>
        </p:blipFill>
        <p:spPr>
          <a:xfrm>
            <a:off x="457200" y="1188720"/>
            <a:ext cx="4845960" cy="2327040"/>
          </a:xfrm>
          <a:prstGeom prst="rect">
            <a:avLst/>
          </a:prstGeom>
          <a:noFill/>
          <a:ln w="0">
            <a:noFill/>
          </a:ln>
        </p:spPr>
      </p:pic>
      <p:sp>
        <p:nvSpPr>
          <p:cNvPr id="74" name="Text 1"/>
          <p:cNvSpPr/>
          <p:nvPr/>
        </p:nvSpPr>
        <p:spPr>
          <a:xfrm>
            <a:off x="457200" y="3589200"/>
            <a:ext cx="484596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chemeClr val="accent5"/>
                </a:solidFill>
                <a:effectLst/>
                <a:uFillTx/>
                <a:latin typeface="Calibri"/>
              </a:rPr>
              <a:t>Figure 5 · Repeated ICMP alerts, SID 1:1000001</a:t>
            </a:r>
            <a:endParaRPr lang="en-IN" sz="1100" b="0" u="none" strike="noStrike">
              <a:solidFill>
                <a:srgbClr val="000000"/>
              </a:solidFill>
              <a:effectLst/>
              <a:uFillTx/>
              <a:latin typeface="Arial"/>
            </a:endParaRPr>
          </a:p>
        </p:txBody>
      </p:sp>
      <p:sp>
        <p:nvSpPr>
          <p:cNvPr id="75" name="SnortFacts"/>
          <p:cNvSpPr/>
          <p:nvPr/>
        </p:nvSpPr>
        <p:spPr>
          <a:xfrm>
            <a:off x="5577840" y="1188720"/>
            <a:ext cx="3108600" cy="2331360"/>
          </a:xfrm>
          <a:prstGeom prst="roundRect">
            <a:avLst>
              <a:gd name="adj" fmla="val 4706"/>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6" name="Text 3"/>
          <p:cNvSpPr/>
          <p:nvPr/>
        </p:nvSpPr>
        <p:spPr>
          <a:xfrm>
            <a:off x="5760720" y="1325880"/>
            <a:ext cx="2742840" cy="20570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10202E"/>
              </a:buClr>
              <a:buFont typeface="Symbol" charset="2"/>
              <a:buChar char=""/>
            </a:pPr>
            <a:r>
              <a:rPr lang="en-US" sz="1400" b="0" u="none" strike="noStrike">
                <a:solidFill>
                  <a:schemeClr val="dk1"/>
                </a:solidFill>
                <a:effectLst/>
                <a:uFillTx/>
                <a:latin typeface="Calibri"/>
              </a:rPr>
              <a:t>Passive afpacket DAQ on enp0s8</a:t>
            </a:r>
            <a:endParaRPr lang="en-IN" sz="1400" b="0" u="none" strike="noStrike">
              <a:solidFill>
                <a:srgbClr val="000000"/>
              </a:solidFill>
              <a:effectLst/>
              <a:uFillTx/>
              <a:latin typeface="Arial"/>
            </a:endParaRPr>
          </a:p>
          <a:p>
            <a:pPr marL="343080" indent="-343080" defTabSz="914400">
              <a:lnSpc>
                <a:spcPct val="100000"/>
              </a:lnSpc>
              <a:spcAft>
                <a:spcPts val="799"/>
              </a:spcAft>
              <a:buClr>
                <a:srgbClr val="10202E"/>
              </a:buClr>
              <a:buFont typeface="Symbol" charset="2"/>
              <a:buChar char=""/>
            </a:pPr>
            <a:r>
              <a:rPr lang="en-US" sz="1400" b="0" u="none" strike="noStrike">
                <a:solidFill>
                  <a:schemeClr val="dk1"/>
                </a:solidFill>
                <a:effectLst/>
                <a:uFillTx/>
                <a:latin typeface="Calibri"/>
              </a:rPr>
              <a:t>300 appid patterns loaded</a:t>
            </a:r>
            <a:endParaRPr lang="en-IN" sz="1400" b="0" u="none" strike="noStrike">
              <a:solidFill>
                <a:srgbClr val="000000"/>
              </a:solidFill>
              <a:effectLst/>
              <a:uFillTx/>
              <a:latin typeface="Arial"/>
            </a:endParaRPr>
          </a:p>
          <a:p>
            <a:pPr marL="343080" indent="-343080" defTabSz="914400">
              <a:lnSpc>
                <a:spcPct val="100000"/>
              </a:lnSpc>
              <a:spcAft>
                <a:spcPts val="799"/>
              </a:spcAft>
              <a:buClr>
                <a:srgbClr val="10202E"/>
              </a:buClr>
              <a:buFont typeface="Symbol" charset="2"/>
              <a:buChar char=""/>
            </a:pPr>
            <a:r>
              <a:rPr lang="en-US" sz="1400" b="0" u="none" strike="noStrike">
                <a:solidFill>
                  <a:schemeClr val="dk1"/>
                </a:solidFill>
                <a:effectLst/>
                <a:uFillTx/>
                <a:latin typeface="Calibri"/>
              </a:rPr>
              <a:t>SID 1:1000001, priority 0, protocol ICMP</a:t>
            </a:r>
            <a:endParaRPr lang="en-IN" sz="1400" b="0" u="none" strike="noStrike">
              <a:solidFill>
                <a:srgbClr val="000000"/>
              </a:solidFill>
              <a:effectLst/>
              <a:uFillTx/>
              <a:latin typeface="Arial"/>
            </a:endParaRPr>
          </a:p>
        </p:txBody>
      </p:sp>
      <p:sp>
        <p:nvSpPr>
          <p:cNvPr id="77" name="GapCallout"/>
          <p:cNvSpPr/>
          <p:nvPr/>
        </p:nvSpPr>
        <p:spPr>
          <a:xfrm>
            <a:off x="457200" y="3840480"/>
            <a:ext cx="8229240" cy="776880"/>
          </a:xfrm>
          <a:prstGeom prst="roundRect">
            <a:avLst>
              <a:gd name="adj" fmla="val 14118"/>
            </a:avLst>
          </a:prstGeom>
          <a:solidFill>
            <a:schemeClr val="accent2"/>
          </a:solidFill>
          <a:ln w="12700">
            <a:solidFill>
              <a:srgbClr val="F2A33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8" name="Text 5"/>
          <p:cNvSpPr/>
          <p:nvPr/>
        </p:nvSpPr>
        <p:spPr>
          <a:xfrm>
            <a:off x="640080" y="3840480"/>
            <a:ext cx="7863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Calibri"/>
              </a:rPr>
              <a:t>Detection gap: </a:t>
            </a:r>
            <a:r>
              <a:rPr lang="en-US" sz="1400" b="0" u="none" strike="noStrike">
                <a:solidFill>
                  <a:schemeClr val="dk1"/>
                </a:solidFill>
                <a:effectLst/>
                <a:uFillTx/>
                <a:latin typeface="Calibri"/>
              </a:rPr>
              <a:t>rules cover ICMP and HTTP only, so SSH guessing raised no Snort alert and its encrypted payload cannot be read anyway.</a:t>
            </a:r>
            <a:endParaRPr lang="en-IN" sz="1400" b="0" u="none" strike="noStrike">
              <a:solidFill>
                <a:srgbClr val="000000"/>
              </a:solidFill>
              <a:effectLst/>
              <a:uFillTx/>
              <a:latin typeface="Arial"/>
            </a:endParaRPr>
          </a:p>
        </p:txBody>
      </p:sp>
      <p:sp>
        <p:nvSpPr>
          <p:cNvPr id="79" name="PlaceHolder 2"/>
          <p:cNvSpPr>
            <a:spLocks noGrp="1"/>
          </p:cNvSpPr>
          <p:nvPr>
            <p:ph type="sldNum" idx="7"/>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BA707582-6BE6-4C96-8405-C8AB669E9747}"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hasCustomPrompt="1"/>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1"/>
                </a:solidFill>
                <a:effectLst/>
                <a:uFillTx/>
                <a:latin typeface="Cambria"/>
              </a:rPr>
              <a:t>Wazuh: Host Evidence</a:t>
            </a:r>
            <a:endParaRPr lang="en-IN" sz="3200" b="0" u="none" strike="noStrike">
              <a:solidFill>
                <a:schemeClr val="dk1"/>
              </a:solidFill>
              <a:effectLst/>
              <a:uFillTx/>
              <a:latin typeface="Calibri"/>
            </a:endParaRPr>
          </a:p>
        </p:txBody>
      </p:sp>
      <p:pic>
        <p:nvPicPr>
          <p:cNvPr id="81" name="WazuhFigure" descr="Wazuh security event for rule 5711 level 7 from ubuntu-agent"/>
          <p:cNvPicPr/>
          <p:nvPr/>
        </p:nvPicPr>
        <p:blipFill>
          <a:blip r:embed="rId1"/>
          <a:stretch/>
        </p:blipFill>
        <p:spPr>
          <a:xfrm>
            <a:off x="457200" y="1188720"/>
            <a:ext cx="3931560" cy="1876680"/>
          </a:xfrm>
          <a:prstGeom prst="rect">
            <a:avLst/>
          </a:prstGeom>
          <a:noFill/>
          <a:ln w="0">
            <a:noFill/>
          </a:ln>
        </p:spPr>
      </p:pic>
      <p:sp>
        <p:nvSpPr>
          <p:cNvPr id="82" name="Text 1"/>
          <p:cNvSpPr/>
          <p:nvPr/>
        </p:nvSpPr>
        <p:spPr>
          <a:xfrm>
            <a:off x="457200" y="3139200"/>
            <a:ext cx="393156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chemeClr val="accent5"/>
                </a:solidFill>
                <a:effectLst/>
                <a:uFillTx/>
                <a:latin typeface="Calibri"/>
              </a:rPr>
              <a:t>Figure 6 · Rule 5711, level 7, ubuntu-agent</a:t>
            </a:r>
            <a:endParaRPr lang="en-IN" sz="1100" b="0" u="none" strike="noStrike">
              <a:solidFill>
                <a:srgbClr val="000000"/>
              </a:solidFill>
              <a:effectLst/>
              <a:uFillTx/>
              <a:latin typeface="Arial"/>
            </a:endParaRPr>
          </a:p>
        </p:txBody>
      </p:sp>
      <p:sp>
        <p:nvSpPr>
          <p:cNvPr id="83" name="Text 2"/>
          <p:cNvSpPr/>
          <p:nvPr/>
        </p:nvSpPr>
        <p:spPr>
          <a:xfrm>
            <a:off x="4663440" y="1188720"/>
            <a:ext cx="4023000" cy="19198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10202E"/>
              </a:buClr>
              <a:buFont typeface="Symbol" charset="2"/>
              <a:buChar char=""/>
            </a:pPr>
            <a:r>
              <a:rPr lang="en-US" sz="1500" b="0" u="none" strike="noStrike">
                <a:solidFill>
                  <a:schemeClr val="dk1"/>
                </a:solidFill>
                <a:effectLst/>
                <a:uFillTx/>
                <a:latin typeface="Calibri"/>
              </a:rPr>
              <a:t>Failed logins climb from level 5 to 7 to 10</a:t>
            </a:r>
            <a:endParaRPr lang="en-IN" sz="1500" b="0" u="none" strike="noStrike">
              <a:solidFill>
                <a:srgbClr val="000000"/>
              </a:solidFill>
              <a:effectLst/>
              <a:uFillTx/>
              <a:latin typeface="Arial"/>
            </a:endParaRPr>
          </a:p>
          <a:p>
            <a:pPr marL="343080" indent="-343080" defTabSz="914400">
              <a:lnSpc>
                <a:spcPct val="100000"/>
              </a:lnSpc>
              <a:spcAft>
                <a:spcPts val="799"/>
              </a:spcAft>
              <a:buClr>
                <a:srgbClr val="10202E"/>
              </a:buClr>
              <a:buFont typeface="Symbol" charset="2"/>
              <a:buChar char=""/>
            </a:pPr>
            <a:r>
              <a:rPr lang="en-US" sz="1500" b="0" u="none" strike="noStrike">
                <a:solidFill>
                  <a:schemeClr val="dk1"/>
                </a:solidFill>
                <a:effectLst/>
                <a:uFillTx/>
                <a:latin typeface="Calibri"/>
              </a:rPr>
              <a:t>Success (5715) follows the 5763 burst from one source</a:t>
            </a:r>
            <a:endParaRPr lang="en-IN" sz="1500" b="0" u="none" strike="noStrike">
              <a:solidFill>
                <a:srgbClr val="000000"/>
              </a:solidFill>
              <a:effectLst/>
              <a:uFillTx/>
              <a:latin typeface="Arial"/>
            </a:endParaRPr>
          </a:p>
          <a:p>
            <a:pPr marL="343080" indent="-343080" defTabSz="914400">
              <a:lnSpc>
                <a:spcPct val="100000"/>
              </a:lnSpc>
              <a:spcAft>
                <a:spcPts val="799"/>
              </a:spcAft>
              <a:buClr>
                <a:srgbClr val="10202E"/>
              </a:buClr>
              <a:buFont typeface="Symbol" charset="2"/>
              <a:buChar char=""/>
            </a:pPr>
            <a:r>
              <a:rPr lang="en-US" sz="1500" b="0" u="none" strike="noStrike">
                <a:solidFill>
                  <a:schemeClr val="dk1"/>
                </a:solidFill>
                <a:effectLst/>
                <a:uFillTx/>
                <a:latin typeface="Calibri"/>
              </a:rPr>
              <a:t>Sudo to root and FIM changes follow login</a:t>
            </a:r>
            <a:endParaRPr lang="en-IN" sz="1500" b="0" u="none" strike="noStrike">
              <a:solidFill>
                <a:srgbClr val="000000"/>
              </a:solidFill>
              <a:effectLst/>
              <a:uFillTx/>
              <a:latin typeface="Arial"/>
            </a:endParaRPr>
          </a:p>
        </p:txBody>
      </p:sp>
      <p:sp>
        <p:nvSpPr>
          <p:cNvPr id="84" name="Text 3"/>
          <p:cNvSpPr/>
          <p:nvPr/>
        </p:nvSpPr>
        <p:spPr>
          <a:xfrm>
            <a:off x="457200" y="3456360"/>
            <a:ext cx="777204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dk1"/>
                </a:solidFill>
                <a:effectLst/>
                <a:uFillTx/>
                <a:latin typeface="Calibri"/>
              </a:rPr>
              <a:t>Rule chain, tool level shown · colour is analyst severity</a:t>
            </a:r>
            <a:endParaRPr lang="en-IN" sz="1200" b="0" u="none" strike="noStrike">
              <a:solidFill>
                <a:srgbClr val="000000"/>
              </a:solidFill>
              <a:effectLst/>
              <a:uFillTx/>
              <a:latin typeface="Arial"/>
            </a:endParaRPr>
          </a:p>
        </p:txBody>
      </p:sp>
      <p:sp>
        <p:nvSpPr>
          <p:cNvPr id="85" name="RuleChip5710"/>
          <p:cNvSpPr/>
          <p:nvPr/>
        </p:nvSpPr>
        <p:spPr>
          <a:xfrm>
            <a:off x="457200" y="3767400"/>
            <a:ext cx="840960" cy="731160"/>
          </a:xfrm>
          <a:prstGeom prst="roundRect">
            <a:avLst>
              <a:gd name="adj" fmla="val 12500"/>
            </a:avLst>
          </a:prstGeom>
          <a:solidFill>
            <a:schemeClr val="accent2"/>
          </a:solidFill>
          <a:ln w="12700">
            <a:solidFill>
              <a:srgbClr val="F2A33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6" name="Text 5"/>
          <p:cNvSpPr/>
          <p:nvPr/>
        </p:nvSpPr>
        <p:spPr>
          <a:xfrm>
            <a:off x="457200" y="3813120"/>
            <a:ext cx="84096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dk1"/>
                </a:solidFill>
                <a:effectLst/>
                <a:uFillTx/>
                <a:latin typeface="Calibri"/>
              </a:rPr>
              <a:t>5710</a:t>
            </a:r>
            <a:endParaRPr lang="en-IN" sz="1600" b="0" u="none" strike="noStrike">
              <a:solidFill>
                <a:srgbClr val="000000"/>
              </a:solidFill>
              <a:effectLst/>
              <a:uFillTx/>
              <a:latin typeface="Arial"/>
            </a:endParaRPr>
          </a:p>
        </p:txBody>
      </p:sp>
      <p:sp>
        <p:nvSpPr>
          <p:cNvPr id="87" name="Text 6"/>
          <p:cNvSpPr/>
          <p:nvPr/>
        </p:nvSpPr>
        <p:spPr>
          <a:xfrm>
            <a:off x="457200" y="4178880"/>
            <a:ext cx="840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Level 5</a:t>
            </a:r>
            <a:endParaRPr lang="en-IN" sz="1100" b="0" u="none" strike="noStrike">
              <a:solidFill>
                <a:srgbClr val="000000"/>
              </a:solidFill>
              <a:effectLst/>
              <a:uFillTx/>
              <a:latin typeface="Arial"/>
            </a:endParaRPr>
          </a:p>
        </p:txBody>
      </p:sp>
      <p:sp>
        <p:nvSpPr>
          <p:cNvPr id="88" name="RuleChip5760"/>
          <p:cNvSpPr/>
          <p:nvPr/>
        </p:nvSpPr>
        <p:spPr>
          <a:xfrm>
            <a:off x="1371600" y="3767400"/>
            <a:ext cx="840960" cy="731160"/>
          </a:xfrm>
          <a:prstGeom prst="roundRect">
            <a:avLst>
              <a:gd name="adj" fmla="val 12500"/>
            </a:avLst>
          </a:prstGeom>
          <a:solidFill>
            <a:schemeClr val="accent2"/>
          </a:solidFill>
          <a:ln w="12700">
            <a:solidFill>
              <a:srgbClr val="F2A33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9" name="Text 8"/>
          <p:cNvSpPr/>
          <p:nvPr/>
        </p:nvSpPr>
        <p:spPr>
          <a:xfrm>
            <a:off x="1371600" y="3813120"/>
            <a:ext cx="84096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dk1"/>
                </a:solidFill>
                <a:effectLst/>
                <a:uFillTx/>
                <a:latin typeface="Calibri"/>
              </a:rPr>
              <a:t>5760</a:t>
            </a:r>
            <a:endParaRPr lang="en-IN" sz="1600" b="0" u="none" strike="noStrike">
              <a:solidFill>
                <a:srgbClr val="000000"/>
              </a:solidFill>
              <a:effectLst/>
              <a:uFillTx/>
              <a:latin typeface="Arial"/>
            </a:endParaRPr>
          </a:p>
        </p:txBody>
      </p:sp>
      <p:sp>
        <p:nvSpPr>
          <p:cNvPr id="90" name="Text 9"/>
          <p:cNvSpPr/>
          <p:nvPr/>
        </p:nvSpPr>
        <p:spPr>
          <a:xfrm>
            <a:off x="1371600" y="4178880"/>
            <a:ext cx="840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Level 5</a:t>
            </a:r>
            <a:endParaRPr lang="en-IN" sz="1100" b="0" u="none" strike="noStrike">
              <a:solidFill>
                <a:srgbClr val="000000"/>
              </a:solidFill>
              <a:effectLst/>
              <a:uFillTx/>
              <a:latin typeface="Arial"/>
            </a:endParaRPr>
          </a:p>
        </p:txBody>
      </p:sp>
      <p:sp>
        <p:nvSpPr>
          <p:cNvPr id="91" name="RuleChip5711"/>
          <p:cNvSpPr/>
          <p:nvPr/>
        </p:nvSpPr>
        <p:spPr>
          <a:xfrm>
            <a:off x="2286000" y="3767400"/>
            <a:ext cx="840960" cy="731160"/>
          </a:xfrm>
          <a:prstGeom prst="roundRect">
            <a:avLst>
              <a:gd name="adj" fmla="val 12500"/>
            </a:avLst>
          </a:prstGeom>
          <a:solidFill>
            <a:schemeClr val="accent2"/>
          </a:solidFill>
          <a:ln w="12700">
            <a:solidFill>
              <a:srgbClr val="F2A33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2" name="Text 11"/>
          <p:cNvSpPr/>
          <p:nvPr/>
        </p:nvSpPr>
        <p:spPr>
          <a:xfrm>
            <a:off x="2286000" y="3813120"/>
            <a:ext cx="84096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dk1"/>
                </a:solidFill>
                <a:effectLst/>
                <a:uFillTx/>
                <a:latin typeface="Calibri"/>
              </a:rPr>
              <a:t>5711</a:t>
            </a:r>
            <a:endParaRPr lang="en-IN" sz="1600" b="0" u="none" strike="noStrike">
              <a:solidFill>
                <a:srgbClr val="000000"/>
              </a:solidFill>
              <a:effectLst/>
              <a:uFillTx/>
              <a:latin typeface="Arial"/>
            </a:endParaRPr>
          </a:p>
        </p:txBody>
      </p:sp>
      <p:sp>
        <p:nvSpPr>
          <p:cNvPr id="93" name="Text 12"/>
          <p:cNvSpPr/>
          <p:nvPr/>
        </p:nvSpPr>
        <p:spPr>
          <a:xfrm>
            <a:off x="2286000" y="4178880"/>
            <a:ext cx="840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Level 7</a:t>
            </a:r>
            <a:endParaRPr lang="en-IN" sz="1100" b="0" u="none" strike="noStrike">
              <a:solidFill>
                <a:srgbClr val="000000"/>
              </a:solidFill>
              <a:effectLst/>
              <a:uFillTx/>
              <a:latin typeface="Arial"/>
            </a:endParaRPr>
          </a:p>
        </p:txBody>
      </p:sp>
      <p:sp>
        <p:nvSpPr>
          <p:cNvPr id="94" name="RuleChip5763"/>
          <p:cNvSpPr/>
          <p:nvPr/>
        </p:nvSpPr>
        <p:spPr>
          <a:xfrm>
            <a:off x="3200400" y="3767400"/>
            <a:ext cx="840960" cy="731160"/>
          </a:xfrm>
          <a:prstGeom prst="roundRect">
            <a:avLst>
              <a:gd name="adj" fmla="val 12500"/>
            </a:avLst>
          </a:prstGeom>
          <a:solidFill>
            <a:schemeClr val="accent3"/>
          </a:solidFill>
          <a:ln w="12700">
            <a:solidFill>
              <a:srgbClr val="D63B4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95" name="Text 14"/>
          <p:cNvSpPr/>
          <p:nvPr/>
        </p:nvSpPr>
        <p:spPr>
          <a:xfrm>
            <a:off x="3200400" y="3813120"/>
            <a:ext cx="84096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lt1"/>
                </a:solidFill>
                <a:effectLst/>
                <a:uFillTx/>
                <a:latin typeface="Calibri"/>
              </a:rPr>
              <a:t>5763</a:t>
            </a:r>
            <a:endParaRPr lang="en-IN" sz="1600" b="0" u="none" strike="noStrike">
              <a:solidFill>
                <a:srgbClr val="000000"/>
              </a:solidFill>
              <a:effectLst/>
              <a:uFillTx/>
              <a:latin typeface="Arial"/>
            </a:endParaRPr>
          </a:p>
        </p:txBody>
      </p:sp>
      <p:sp>
        <p:nvSpPr>
          <p:cNvPr id="96" name="Text 15"/>
          <p:cNvSpPr/>
          <p:nvPr/>
        </p:nvSpPr>
        <p:spPr>
          <a:xfrm>
            <a:off x="3200400" y="4178880"/>
            <a:ext cx="840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chemeClr val="lt1"/>
                </a:solidFill>
                <a:effectLst/>
                <a:uFillTx/>
                <a:latin typeface="Calibri"/>
              </a:rPr>
              <a:t>Level 10</a:t>
            </a:r>
            <a:endParaRPr lang="en-IN" sz="1100" b="0" u="none" strike="noStrike">
              <a:solidFill>
                <a:srgbClr val="000000"/>
              </a:solidFill>
              <a:effectLst/>
              <a:uFillTx/>
              <a:latin typeface="Arial"/>
            </a:endParaRPr>
          </a:p>
        </p:txBody>
      </p:sp>
      <p:sp>
        <p:nvSpPr>
          <p:cNvPr id="97" name="RuleChip5715"/>
          <p:cNvSpPr/>
          <p:nvPr/>
        </p:nvSpPr>
        <p:spPr>
          <a:xfrm>
            <a:off x="4114800" y="3767400"/>
            <a:ext cx="840960" cy="731160"/>
          </a:xfrm>
          <a:prstGeom prst="roundRect">
            <a:avLst>
              <a:gd name="adj" fmla="val 12500"/>
            </a:avLst>
          </a:prstGeom>
          <a:solidFill>
            <a:schemeClr val="accent3"/>
          </a:solidFill>
          <a:ln w="12700">
            <a:solidFill>
              <a:srgbClr val="D63B4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98" name="Text 17"/>
          <p:cNvSpPr/>
          <p:nvPr/>
        </p:nvSpPr>
        <p:spPr>
          <a:xfrm>
            <a:off x="4114800" y="3813120"/>
            <a:ext cx="84096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lt1"/>
                </a:solidFill>
                <a:effectLst/>
                <a:uFillTx/>
                <a:latin typeface="Calibri"/>
              </a:rPr>
              <a:t>5715</a:t>
            </a:r>
            <a:endParaRPr lang="en-IN" sz="1600" b="0" u="none" strike="noStrike">
              <a:solidFill>
                <a:srgbClr val="000000"/>
              </a:solidFill>
              <a:effectLst/>
              <a:uFillTx/>
              <a:latin typeface="Arial"/>
            </a:endParaRPr>
          </a:p>
        </p:txBody>
      </p:sp>
      <p:sp>
        <p:nvSpPr>
          <p:cNvPr id="99" name="Text 18"/>
          <p:cNvSpPr/>
          <p:nvPr/>
        </p:nvSpPr>
        <p:spPr>
          <a:xfrm>
            <a:off x="4114800" y="4178880"/>
            <a:ext cx="840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chemeClr val="lt1"/>
                </a:solidFill>
                <a:effectLst/>
                <a:uFillTx/>
                <a:latin typeface="Calibri"/>
              </a:rPr>
              <a:t>Level 3</a:t>
            </a:r>
            <a:endParaRPr lang="en-IN" sz="1100" b="0" u="none" strike="noStrike">
              <a:solidFill>
                <a:srgbClr val="000000"/>
              </a:solidFill>
              <a:effectLst/>
              <a:uFillTx/>
              <a:latin typeface="Arial"/>
            </a:endParaRPr>
          </a:p>
        </p:txBody>
      </p:sp>
      <p:sp>
        <p:nvSpPr>
          <p:cNvPr id="100" name="RuleChip5501"/>
          <p:cNvSpPr/>
          <p:nvPr/>
        </p:nvSpPr>
        <p:spPr>
          <a:xfrm>
            <a:off x="5029200" y="3767400"/>
            <a:ext cx="840960" cy="731160"/>
          </a:xfrm>
          <a:prstGeom prst="roundRect">
            <a:avLst>
              <a:gd name="adj" fmla="val 12500"/>
            </a:avLst>
          </a:prstGeom>
          <a:solidFill>
            <a:schemeClr val="accent4"/>
          </a:solidFill>
          <a:ln w="12700">
            <a:solidFill>
              <a:srgbClr val="6CCB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1" name="Text 20"/>
          <p:cNvSpPr/>
          <p:nvPr/>
        </p:nvSpPr>
        <p:spPr>
          <a:xfrm>
            <a:off x="5029200" y="3813120"/>
            <a:ext cx="84096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dk1"/>
                </a:solidFill>
                <a:effectLst/>
                <a:uFillTx/>
                <a:latin typeface="Calibri"/>
              </a:rPr>
              <a:t>5501</a:t>
            </a:r>
            <a:endParaRPr lang="en-IN" sz="1600" b="0" u="none" strike="noStrike">
              <a:solidFill>
                <a:srgbClr val="000000"/>
              </a:solidFill>
              <a:effectLst/>
              <a:uFillTx/>
              <a:latin typeface="Arial"/>
            </a:endParaRPr>
          </a:p>
        </p:txBody>
      </p:sp>
      <p:sp>
        <p:nvSpPr>
          <p:cNvPr id="102" name="Text 21"/>
          <p:cNvSpPr/>
          <p:nvPr/>
        </p:nvSpPr>
        <p:spPr>
          <a:xfrm>
            <a:off x="5029200" y="4178880"/>
            <a:ext cx="840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Level 3</a:t>
            </a:r>
            <a:endParaRPr lang="en-IN" sz="1100" b="0" u="none" strike="noStrike">
              <a:solidFill>
                <a:srgbClr val="000000"/>
              </a:solidFill>
              <a:effectLst/>
              <a:uFillTx/>
              <a:latin typeface="Arial"/>
            </a:endParaRPr>
          </a:p>
        </p:txBody>
      </p:sp>
      <p:sp>
        <p:nvSpPr>
          <p:cNvPr id="103" name="RuleChip5402"/>
          <p:cNvSpPr/>
          <p:nvPr/>
        </p:nvSpPr>
        <p:spPr>
          <a:xfrm>
            <a:off x="5943600" y="3767400"/>
            <a:ext cx="840960" cy="731160"/>
          </a:xfrm>
          <a:prstGeom prst="roundRect">
            <a:avLst>
              <a:gd name="adj" fmla="val 12500"/>
            </a:avLst>
          </a:prstGeom>
          <a:solidFill>
            <a:schemeClr val="accent2"/>
          </a:solidFill>
          <a:ln w="12700">
            <a:solidFill>
              <a:srgbClr val="F2A33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4" name="Text 23"/>
          <p:cNvSpPr/>
          <p:nvPr/>
        </p:nvSpPr>
        <p:spPr>
          <a:xfrm>
            <a:off x="5943600" y="3813120"/>
            <a:ext cx="84096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dk1"/>
                </a:solidFill>
                <a:effectLst/>
                <a:uFillTx/>
                <a:latin typeface="Calibri"/>
              </a:rPr>
              <a:t>5402</a:t>
            </a:r>
            <a:endParaRPr lang="en-IN" sz="1600" b="0" u="none" strike="noStrike">
              <a:solidFill>
                <a:srgbClr val="000000"/>
              </a:solidFill>
              <a:effectLst/>
              <a:uFillTx/>
              <a:latin typeface="Arial"/>
            </a:endParaRPr>
          </a:p>
        </p:txBody>
      </p:sp>
      <p:sp>
        <p:nvSpPr>
          <p:cNvPr id="105" name="Text 24"/>
          <p:cNvSpPr/>
          <p:nvPr/>
        </p:nvSpPr>
        <p:spPr>
          <a:xfrm>
            <a:off x="5943600" y="4178880"/>
            <a:ext cx="840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Level 3</a:t>
            </a:r>
            <a:endParaRPr lang="en-IN" sz="1100" b="0" u="none" strike="noStrike">
              <a:solidFill>
                <a:srgbClr val="000000"/>
              </a:solidFill>
              <a:effectLst/>
              <a:uFillTx/>
              <a:latin typeface="Arial"/>
            </a:endParaRPr>
          </a:p>
        </p:txBody>
      </p:sp>
      <p:sp>
        <p:nvSpPr>
          <p:cNvPr id="106" name="RuleChip554"/>
          <p:cNvSpPr/>
          <p:nvPr/>
        </p:nvSpPr>
        <p:spPr>
          <a:xfrm>
            <a:off x="6858000" y="3767400"/>
            <a:ext cx="840960" cy="731160"/>
          </a:xfrm>
          <a:prstGeom prst="roundRect">
            <a:avLst>
              <a:gd name="adj" fmla="val 12500"/>
            </a:avLst>
          </a:prstGeom>
          <a:solidFill>
            <a:schemeClr val="accent2"/>
          </a:solidFill>
          <a:ln w="12700">
            <a:solidFill>
              <a:srgbClr val="F2A33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7" name="Text 26"/>
          <p:cNvSpPr/>
          <p:nvPr/>
        </p:nvSpPr>
        <p:spPr>
          <a:xfrm>
            <a:off x="6858000" y="3813120"/>
            <a:ext cx="84096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dk1"/>
                </a:solidFill>
                <a:effectLst/>
                <a:uFillTx/>
                <a:latin typeface="Calibri"/>
              </a:rPr>
              <a:t>554</a:t>
            </a:r>
            <a:endParaRPr lang="en-IN" sz="1600" b="0" u="none" strike="noStrike">
              <a:solidFill>
                <a:srgbClr val="000000"/>
              </a:solidFill>
              <a:effectLst/>
              <a:uFillTx/>
              <a:latin typeface="Arial"/>
            </a:endParaRPr>
          </a:p>
        </p:txBody>
      </p:sp>
      <p:sp>
        <p:nvSpPr>
          <p:cNvPr id="108" name="Text 27"/>
          <p:cNvSpPr/>
          <p:nvPr/>
        </p:nvSpPr>
        <p:spPr>
          <a:xfrm>
            <a:off x="6858000" y="4178880"/>
            <a:ext cx="840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Level 5</a:t>
            </a:r>
            <a:endParaRPr lang="en-IN" sz="1100" b="0" u="none" strike="noStrike">
              <a:solidFill>
                <a:srgbClr val="000000"/>
              </a:solidFill>
              <a:effectLst/>
              <a:uFillTx/>
              <a:latin typeface="Arial"/>
            </a:endParaRPr>
          </a:p>
        </p:txBody>
      </p:sp>
      <p:sp>
        <p:nvSpPr>
          <p:cNvPr id="109" name="RuleChip550"/>
          <p:cNvSpPr/>
          <p:nvPr/>
        </p:nvSpPr>
        <p:spPr>
          <a:xfrm>
            <a:off x="7772400" y="3767400"/>
            <a:ext cx="840960" cy="731160"/>
          </a:xfrm>
          <a:prstGeom prst="roundRect">
            <a:avLst>
              <a:gd name="adj" fmla="val 12500"/>
            </a:avLst>
          </a:prstGeom>
          <a:solidFill>
            <a:schemeClr val="accent2"/>
          </a:solidFill>
          <a:ln w="12700">
            <a:solidFill>
              <a:srgbClr val="F2A33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0" name="Text 29"/>
          <p:cNvSpPr/>
          <p:nvPr/>
        </p:nvSpPr>
        <p:spPr>
          <a:xfrm>
            <a:off x="7772400" y="3813120"/>
            <a:ext cx="84096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chemeClr val="dk1"/>
                </a:solidFill>
                <a:effectLst/>
                <a:uFillTx/>
                <a:latin typeface="Calibri"/>
              </a:rPr>
              <a:t>550</a:t>
            </a:r>
            <a:endParaRPr lang="en-IN" sz="1600" b="0" u="none" strike="noStrike">
              <a:solidFill>
                <a:srgbClr val="000000"/>
              </a:solidFill>
              <a:effectLst/>
              <a:uFillTx/>
              <a:latin typeface="Arial"/>
            </a:endParaRPr>
          </a:p>
        </p:txBody>
      </p:sp>
      <p:sp>
        <p:nvSpPr>
          <p:cNvPr id="111" name="Text 30"/>
          <p:cNvSpPr/>
          <p:nvPr/>
        </p:nvSpPr>
        <p:spPr>
          <a:xfrm>
            <a:off x="7772400" y="4178880"/>
            <a:ext cx="840960" cy="2739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Level 7</a:t>
            </a:r>
            <a:endParaRPr lang="en-IN" sz="1100" b="0" u="none" strike="noStrike">
              <a:solidFill>
                <a:srgbClr val="000000"/>
              </a:solidFill>
              <a:effectLst/>
              <a:uFillTx/>
              <a:latin typeface="Arial"/>
            </a:endParaRPr>
          </a:p>
        </p:txBody>
      </p:sp>
      <p:sp>
        <p:nvSpPr>
          <p:cNvPr id="112" name="LegendHigh"/>
          <p:cNvSpPr/>
          <p:nvPr/>
        </p:nvSpPr>
        <p:spPr>
          <a:xfrm>
            <a:off x="457200" y="4663440"/>
            <a:ext cx="145800" cy="145800"/>
          </a:xfrm>
          <a:prstGeom prst="ellipse">
            <a:avLst/>
          </a:prstGeom>
          <a:solidFill>
            <a:schemeClr val="accent3"/>
          </a:solidFill>
          <a:ln w="12700">
            <a:solidFill>
              <a:srgbClr val="D63B4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13" name="Text 32"/>
          <p:cNvSpPr/>
          <p:nvPr/>
        </p:nvSpPr>
        <p:spPr>
          <a:xfrm>
            <a:off x="676800" y="4617720"/>
            <a:ext cx="822600" cy="237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5"/>
                </a:solidFill>
                <a:effectLst/>
                <a:uFillTx/>
                <a:latin typeface="Calibri"/>
              </a:rPr>
              <a:t>High</a:t>
            </a:r>
            <a:endParaRPr lang="en-IN" sz="1100" b="0" u="none" strike="noStrike">
              <a:solidFill>
                <a:srgbClr val="000000"/>
              </a:solidFill>
              <a:effectLst/>
              <a:uFillTx/>
              <a:latin typeface="Arial"/>
            </a:endParaRPr>
          </a:p>
        </p:txBody>
      </p:sp>
      <p:sp>
        <p:nvSpPr>
          <p:cNvPr id="114" name="LegendMedium"/>
          <p:cNvSpPr/>
          <p:nvPr/>
        </p:nvSpPr>
        <p:spPr>
          <a:xfrm>
            <a:off x="1645920" y="4663440"/>
            <a:ext cx="145800" cy="145800"/>
          </a:xfrm>
          <a:prstGeom prst="ellipse">
            <a:avLst/>
          </a:prstGeom>
          <a:solidFill>
            <a:schemeClr val="accent2"/>
          </a:solidFill>
          <a:ln w="12700">
            <a:solidFill>
              <a:srgbClr val="F2A33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5" name="Text 34"/>
          <p:cNvSpPr/>
          <p:nvPr/>
        </p:nvSpPr>
        <p:spPr>
          <a:xfrm>
            <a:off x="1865520" y="4617720"/>
            <a:ext cx="822600" cy="237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5"/>
                </a:solidFill>
                <a:effectLst/>
                <a:uFillTx/>
                <a:latin typeface="Calibri"/>
              </a:rPr>
              <a:t>Medium</a:t>
            </a:r>
            <a:endParaRPr lang="en-IN" sz="1100" b="0" u="none" strike="noStrike">
              <a:solidFill>
                <a:srgbClr val="000000"/>
              </a:solidFill>
              <a:effectLst/>
              <a:uFillTx/>
              <a:latin typeface="Arial"/>
            </a:endParaRPr>
          </a:p>
        </p:txBody>
      </p:sp>
      <p:sp>
        <p:nvSpPr>
          <p:cNvPr id="116" name="LegendLow"/>
          <p:cNvSpPr/>
          <p:nvPr/>
        </p:nvSpPr>
        <p:spPr>
          <a:xfrm>
            <a:off x="2834640" y="4663440"/>
            <a:ext cx="145800" cy="145800"/>
          </a:xfrm>
          <a:prstGeom prst="ellipse">
            <a:avLst/>
          </a:prstGeom>
          <a:solidFill>
            <a:schemeClr val="accent4"/>
          </a:solidFill>
          <a:ln w="12700">
            <a:solidFill>
              <a:srgbClr val="6CCB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7" name="Text 36"/>
          <p:cNvSpPr/>
          <p:nvPr/>
        </p:nvSpPr>
        <p:spPr>
          <a:xfrm>
            <a:off x="3054240" y="4617720"/>
            <a:ext cx="822600" cy="237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5"/>
                </a:solidFill>
                <a:effectLst/>
                <a:uFillTx/>
                <a:latin typeface="Calibri"/>
              </a:rPr>
              <a:t>Low</a:t>
            </a:r>
            <a:endParaRPr lang="en-IN" sz="1100" b="0" u="none" strike="noStrike">
              <a:solidFill>
                <a:srgbClr val="000000"/>
              </a:solidFill>
              <a:effectLst/>
              <a:uFillTx/>
              <a:latin typeface="Arial"/>
            </a:endParaRPr>
          </a:p>
        </p:txBody>
      </p:sp>
      <p:sp>
        <p:nvSpPr>
          <p:cNvPr id="118" name="PlaceHolder 2"/>
          <p:cNvSpPr>
            <a:spLocks noGrp="1"/>
          </p:cNvSpPr>
          <p:nvPr>
            <p:ph type="sldNum" idx="8"/>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97FD5365-EC1A-4431-91A1-778B9D724EBB}"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hasCustomPrompt="1"/>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1"/>
                </a:solidFill>
                <a:effectLst/>
                <a:uFillTx/>
                <a:latin typeface="Cambria"/>
              </a:rPr>
              <a:t>Incident Timeline</a:t>
            </a:r>
            <a:endParaRPr lang="en-IN" sz="3200" b="0" u="none" strike="noStrike">
              <a:solidFill>
                <a:schemeClr val="dk1"/>
              </a:solidFill>
              <a:effectLst/>
              <a:uFillTx/>
              <a:latin typeface="Calibri"/>
            </a:endParaRPr>
          </a:p>
        </p:txBody>
      </p:sp>
      <p:sp>
        <p:nvSpPr>
          <p:cNvPr id="120" name="TimelineLine"/>
          <p:cNvSpPr/>
          <p:nvPr/>
        </p:nvSpPr>
        <p:spPr>
          <a:xfrm>
            <a:off x="868680" y="2788920"/>
            <a:ext cx="7406640" cy="360"/>
          </a:xfrm>
          <a:prstGeom prst="line">
            <a:avLst/>
          </a:prstGeom>
          <a:ln w="38100">
            <a:solidFill>
              <a:srgbClr val="5B7C99"/>
            </a:solidFill>
            <a:round/>
          </a:ln>
        </p:spPr>
        <p:style>
          <a:lnRef idx="0"/>
          <a:fillRef idx="0"/>
          <a:effectRef idx="0"/>
          <a:fontRef idx="minor"/>
        </p:style>
        <p:txBody>
          <a:bodyPr lIns="90000" tIns="-44640" rIns="90000" bIns="-44640" anchor="t" anchorCtr="1">
            <a:noAutofit/>
          </a:bodyPr>
          <a:p>
            <a:endParaRPr lang="en-IN" sz="1800" b="0" u="none" strike="noStrike">
              <a:solidFill>
                <a:srgbClr val="000000"/>
              </a:solidFill>
              <a:effectLst/>
              <a:uFillTx/>
              <a:latin typeface="Arial"/>
            </a:endParaRPr>
          </a:p>
        </p:txBody>
      </p:sp>
      <p:sp>
        <p:nvSpPr>
          <p:cNvPr id="121" name="NodeT0"/>
          <p:cNvSpPr/>
          <p:nvPr/>
        </p:nvSpPr>
        <p:spPr>
          <a:xfrm>
            <a:off x="631080" y="2551320"/>
            <a:ext cx="475200" cy="475200"/>
          </a:xfrm>
          <a:prstGeom prst="ellipse">
            <a:avLst/>
          </a:prstGeom>
          <a:solidFill>
            <a:schemeClr val="accent4"/>
          </a:solidFill>
          <a:ln w="254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dk1"/>
                </a:solidFill>
                <a:effectLst/>
                <a:uFillTx/>
                <a:latin typeface="Calibri"/>
              </a:rPr>
              <a:t>T0</a:t>
            </a:r>
            <a:endParaRPr lang="en-IN" sz="1200" b="0" u="none" strike="noStrike">
              <a:solidFill>
                <a:srgbClr val="000000"/>
              </a:solidFill>
              <a:effectLst/>
              <a:uFillTx/>
              <a:latin typeface="Arial"/>
            </a:endParaRPr>
          </a:p>
        </p:txBody>
      </p:sp>
      <p:sp>
        <p:nvSpPr>
          <p:cNvPr id="122" name="Text 3"/>
          <p:cNvSpPr/>
          <p:nvPr/>
        </p:nvSpPr>
        <p:spPr>
          <a:xfrm>
            <a:off x="274320" y="1325880"/>
            <a:ext cx="1188360" cy="100548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300" b="1" u="none" strike="noStrike">
                <a:solidFill>
                  <a:schemeClr val="dk1"/>
                </a:solidFill>
                <a:effectLst/>
                <a:uFillTx/>
                <a:latin typeface="Calibri"/>
              </a:rPr>
              <a:t>Snort ICMP ping</a:t>
            </a:r>
            <a:endParaRPr lang="en-IN" sz="13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chemeClr val="accent5"/>
                </a:solidFill>
                <a:effectLst/>
                <a:uFillTx/>
                <a:latin typeface="Calibri"/>
              </a:rPr>
              <a:t>SID 1:1000001</a:t>
            </a:r>
            <a:endParaRPr lang="en-IN" sz="1200" b="0" u="none" strike="noStrike">
              <a:solidFill>
                <a:srgbClr val="000000"/>
              </a:solidFill>
              <a:effectLst/>
              <a:uFillTx/>
              <a:latin typeface="Arial"/>
            </a:endParaRPr>
          </a:p>
        </p:txBody>
      </p:sp>
      <p:sp>
        <p:nvSpPr>
          <p:cNvPr id="123" name="NodeT1"/>
          <p:cNvSpPr/>
          <p:nvPr/>
        </p:nvSpPr>
        <p:spPr>
          <a:xfrm>
            <a:off x="1865520" y="2551320"/>
            <a:ext cx="475200" cy="475200"/>
          </a:xfrm>
          <a:prstGeom prst="ellipse">
            <a:avLst/>
          </a:prstGeom>
          <a:solidFill>
            <a:schemeClr val="accent2"/>
          </a:solidFill>
          <a:ln w="254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dk1"/>
                </a:solidFill>
                <a:effectLst/>
                <a:uFillTx/>
                <a:latin typeface="Calibri"/>
              </a:rPr>
              <a:t>T1</a:t>
            </a:r>
            <a:endParaRPr lang="en-IN" sz="1200" b="0" u="none" strike="noStrike">
              <a:solidFill>
                <a:srgbClr val="000000"/>
              </a:solidFill>
              <a:effectLst/>
              <a:uFillTx/>
              <a:latin typeface="Arial"/>
            </a:endParaRPr>
          </a:p>
        </p:txBody>
      </p:sp>
      <p:sp>
        <p:nvSpPr>
          <p:cNvPr id="124" name="Text 5"/>
          <p:cNvSpPr/>
          <p:nvPr/>
        </p:nvSpPr>
        <p:spPr>
          <a:xfrm>
            <a:off x="1508760" y="3200400"/>
            <a:ext cx="1188360" cy="10054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rPr>
              <a:t>Failed SSH logins</a:t>
            </a:r>
            <a:endParaRPr lang="en-IN" sz="13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chemeClr val="accent5"/>
                </a:solidFill>
                <a:effectLst/>
                <a:uFillTx/>
                <a:latin typeface="Calibri"/>
              </a:rPr>
              <a:t>5710 / 5760 / 5711</a:t>
            </a:r>
            <a:endParaRPr lang="en-IN" sz="1200" b="0" u="none" strike="noStrike">
              <a:solidFill>
                <a:srgbClr val="000000"/>
              </a:solidFill>
              <a:effectLst/>
              <a:uFillTx/>
              <a:latin typeface="Arial"/>
            </a:endParaRPr>
          </a:p>
        </p:txBody>
      </p:sp>
      <p:sp>
        <p:nvSpPr>
          <p:cNvPr id="125" name="NodeT2"/>
          <p:cNvSpPr/>
          <p:nvPr/>
        </p:nvSpPr>
        <p:spPr>
          <a:xfrm>
            <a:off x="3099960" y="2551320"/>
            <a:ext cx="475200" cy="475200"/>
          </a:xfrm>
          <a:prstGeom prst="ellipse">
            <a:avLst/>
          </a:prstGeom>
          <a:solidFill>
            <a:schemeClr val="accent3"/>
          </a:solidFill>
          <a:ln w="254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T2</a:t>
            </a:r>
            <a:endParaRPr lang="en-IN" sz="1200" b="0" u="none" strike="noStrike">
              <a:solidFill>
                <a:srgbClr val="FFFFFF"/>
              </a:solidFill>
              <a:effectLst/>
              <a:uFillTx/>
              <a:latin typeface="Arial"/>
            </a:endParaRPr>
          </a:p>
        </p:txBody>
      </p:sp>
      <p:sp>
        <p:nvSpPr>
          <p:cNvPr id="126" name="Text 7"/>
          <p:cNvSpPr/>
          <p:nvPr/>
        </p:nvSpPr>
        <p:spPr>
          <a:xfrm>
            <a:off x="2743200" y="1325880"/>
            <a:ext cx="1188360" cy="100548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300" b="1" u="none" strike="noStrike">
                <a:solidFill>
                  <a:schemeClr val="dk1"/>
                </a:solidFill>
                <a:effectLst/>
                <a:uFillTx/>
                <a:latin typeface="Calibri"/>
              </a:rPr>
              <a:t>Brute-force threshold</a:t>
            </a:r>
            <a:endParaRPr lang="en-IN" sz="13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chemeClr val="accent5"/>
                </a:solidFill>
                <a:effectLst/>
                <a:uFillTx/>
                <a:latin typeface="Calibri"/>
              </a:rPr>
              <a:t>5763, level 10</a:t>
            </a:r>
            <a:endParaRPr lang="en-IN" sz="1200" b="0" u="none" strike="noStrike">
              <a:solidFill>
                <a:srgbClr val="000000"/>
              </a:solidFill>
              <a:effectLst/>
              <a:uFillTx/>
              <a:latin typeface="Arial"/>
            </a:endParaRPr>
          </a:p>
        </p:txBody>
      </p:sp>
      <p:sp>
        <p:nvSpPr>
          <p:cNvPr id="127" name="NodeT3"/>
          <p:cNvSpPr/>
          <p:nvPr/>
        </p:nvSpPr>
        <p:spPr>
          <a:xfrm>
            <a:off x="4334400" y="2551320"/>
            <a:ext cx="475200" cy="475200"/>
          </a:xfrm>
          <a:prstGeom prst="ellipse">
            <a:avLst/>
          </a:prstGeom>
          <a:solidFill>
            <a:schemeClr val="accent3"/>
          </a:solidFill>
          <a:ln w="254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T3</a:t>
            </a:r>
            <a:endParaRPr lang="en-IN" sz="1200" b="0" u="none" strike="noStrike">
              <a:solidFill>
                <a:srgbClr val="FFFFFF"/>
              </a:solidFill>
              <a:effectLst/>
              <a:uFillTx/>
              <a:latin typeface="Arial"/>
            </a:endParaRPr>
          </a:p>
        </p:txBody>
      </p:sp>
      <p:sp>
        <p:nvSpPr>
          <p:cNvPr id="128" name="Text 9"/>
          <p:cNvSpPr/>
          <p:nvPr/>
        </p:nvSpPr>
        <p:spPr>
          <a:xfrm>
            <a:off x="3977640" y="3200400"/>
            <a:ext cx="1188360" cy="10054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rPr>
              <a:t>SSH success</a:t>
            </a:r>
            <a:endParaRPr lang="en-IN" sz="13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chemeClr val="accent5"/>
                </a:solidFill>
                <a:effectLst/>
                <a:uFillTx/>
                <a:latin typeface="Calibri"/>
              </a:rPr>
              <a:t>5715</a:t>
            </a:r>
            <a:endParaRPr lang="en-IN" sz="1200" b="0" u="none" strike="noStrike">
              <a:solidFill>
                <a:srgbClr val="000000"/>
              </a:solidFill>
              <a:effectLst/>
              <a:uFillTx/>
              <a:latin typeface="Arial"/>
            </a:endParaRPr>
          </a:p>
        </p:txBody>
      </p:sp>
      <p:sp>
        <p:nvSpPr>
          <p:cNvPr id="129" name="NodeT4"/>
          <p:cNvSpPr/>
          <p:nvPr/>
        </p:nvSpPr>
        <p:spPr>
          <a:xfrm>
            <a:off x="5568840" y="2551320"/>
            <a:ext cx="475200" cy="475200"/>
          </a:xfrm>
          <a:prstGeom prst="ellipse">
            <a:avLst/>
          </a:prstGeom>
          <a:solidFill>
            <a:schemeClr val="accent2"/>
          </a:solidFill>
          <a:ln w="254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dk1"/>
                </a:solidFill>
                <a:effectLst/>
                <a:uFillTx/>
                <a:latin typeface="Calibri"/>
              </a:rPr>
              <a:t>T4</a:t>
            </a:r>
            <a:endParaRPr lang="en-IN" sz="1200" b="0" u="none" strike="noStrike">
              <a:solidFill>
                <a:srgbClr val="000000"/>
              </a:solidFill>
              <a:effectLst/>
              <a:uFillTx/>
              <a:latin typeface="Arial"/>
            </a:endParaRPr>
          </a:p>
        </p:txBody>
      </p:sp>
      <p:sp>
        <p:nvSpPr>
          <p:cNvPr id="130" name="Text 11"/>
          <p:cNvSpPr/>
          <p:nvPr/>
        </p:nvSpPr>
        <p:spPr>
          <a:xfrm>
            <a:off x="5212080" y="1325880"/>
            <a:ext cx="1188360" cy="100548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300" b="1" u="none" strike="noStrike">
                <a:solidFill>
                  <a:schemeClr val="dk1"/>
                </a:solidFill>
                <a:effectLst/>
                <a:uFillTx/>
                <a:latin typeface="Calibri"/>
              </a:rPr>
              <a:t>Session + sudo root</a:t>
            </a:r>
            <a:endParaRPr lang="en-IN" sz="13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chemeClr val="accent5"/>
                </a:solidFill>
                <a:effectLst/>
                <a:uFillTx/>
                <a:latin typeface="Calibri"/>
              </a:rPr>
              <a:t>5501 / 5402</a:t>
            </a:r>
            <a:endParaRPr lang="en-IN" sz="1200" b="0" u="none" strike="noStrike">
              <a:solidFill>
                <a:srgbClr val="000000"/>
              </a:solidFill>
              <a:effectLst/>
              <a:uFillTx/>
              <a:latin typeface="Arial"/>
            </a:endParaRPr>
          </a:p>
        </p:txBody>
      </p:sp>
      <p:sp>
        <p:nvSpPr>
          <p:cNvPr id="131" name="NodeT5"/>
          <p:cNvSpPr/>
          <p:nvPr/>
        </p:nvSpPr>
        <p:spPr>
          <a:xfrm>
            <a:off x="6803280" y="2551320"/>
            <a:ext cx="475200" cy="475200"/>
          </a:xfrm>
          <a:prstGeom prst="ellipse">
            <a:avLst/>
          </a:prstGeom>
          <a:solidFill>
            <a:schemeClr val="accent2"/>
          </a:solidFill>
          <a:ln w="254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dk1"/>
                </a:solidFill>
                <a:effectLst/>
                <a:uFillTx/>
                <a:latin typeface="Calibri"/>
              </a:rPr>
              <a:t>T5</a:t>
            </a:r>
            <a:endParaRPr lang="en-IN" sz="1200" b="0" u="none" strike="noStrike">
              <a:solidFill>
                <a:srgbClr val="000000"/>
              </a:solidFill>
              <a:effectLst/>
              <a:uFillTx/>
              <a:latin typeface="Arial"/>
            </a:endParaRPr>
          </a:p>
        </p:txBody>
      </p:sp>
      <p:sp>
        <p:nvSpPr>
          <p:cNvPr id="132" name="Text 13"/>
          <p:cNvSpPr/>
          <p:nvPr/>
        </p:nvSpPr>
        <p:spPr>
          <a:xfrm>
            <a:off x="6446520" y="3200400"/>
            <a:ext cx="1188360" cy="10054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chemeClr val="dk1"/>
                </a:solidFill>
                <a:effectLst/>
                <a:uFillTx/>
                <a:latin typeface="Calibri"/>
              </a:rPr>
              <a:t>File created, modified</a:t>
            </a:r>
            <a:endParaRPr lang="en-IN" sz="13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chemeClr val="accent5"/>
                </a:solidFill>
                <a:effectLst/>
                <a:uFillTx/>
                <a:latin typeface="Calibri"/>
              </a:rPr>
              <a:t>FIM 554 / 550</a:t>
            </a:r>
            <a:endParaRPr lang="en-IN" sz="1200" b="0" u="none" strike="noStrike">
              <a:solidFill>
                <a:srgbClr val="000000"/>
              </a:solidFill>
              <a:effectLst/>
              <a:uFillTx/>
              <a:latin typeface="Arial"/>
            </a:endParaRPr>
          </a:p>
        </p:txBody>
      </p:sp>
      <p:sp>
        <p:nvSpPr>
          <p:cNvPr id="133" name="NodeT6"/>
          <p:cNvSpPr/>
          <p:nvPr/>
        </p:nvSpPr>
        <p:spPr>
          <a:xfrm>
            <a:off x="8037720" y="2551320"/>
            <a:ext cx="475200" cy="475200"/>
          </a:xfrm>
          <a:prstGeom prst="ellipse">
            <a:avLst/>
          </a:prstGeom>
          <a:solidFill>
            <a:schemeClr val="accent4"/>
          </a:solidFill>
          <a:ln w="254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dk1"/>
                </a:solidFill>
                <a:effectLst/>
                <a:uFillTx/>
                <a:latin typeface="Calibri"/>
              </a:rPr>
              <a:t>T6</a:t>
            </a:r>
            <a:endParaRPr lang="en-IN" sz="1200" b="0" u="none" strike="noStrike">
              <a:solidFill>
                <a:srgbClr val="000000"/>
              </a:solidFill>
              <a:effectLst/>
              <a:uFillTx/>
              <a:latin typeface="Arial"/>
            </a:endParaRPr>
          </a:p>
        </p:txBody>
      </p:sp>
      <p:sp>
        <p:nvSpPr>
          <p:cNvPr id="134" name="Text 15"/>
          <p:cNvSpPr/>
          <p:nvPr/>
        </p:nvSpPr>
        <p:spPr>
          <a:xfrm>
            <a:off x="7680960" y="1325880"/>
            <a:ext cx="1188360" cy="100548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300" b="1" u="none" strike="noStrike">
                <a:solidFill>
                  <a:schemeClr val="dk1"/>
                </a:solidFill>
                <a:effectLst/>
                <a:uFillTx/>
                <a:latin typeface="Calibri"/>
              </a:rPr>
              <a:t>Analyst decision</a:t>
            </a:r>
            <a:endParaRPr lang="en-IN" sz="1300" b="0" u="none" strike="noStrike">
              <a:solidFill>
                <a:srgbClr val="000000"/>
              </a:solidFill>
              <a:effectLst/>
              <a:uFillTx/>
              <a:latin typeface="Arial"/>
            </a:endParaRPr>
          </a:p>
          <a:p>
            <a:pPr algn="ctr" defTabSz="914400">
              <a:lnSpc>
                <a:spcPct val="100000"/>
              </a:lnSpc>
              <a:tabLst>
                <a:tab pos="0" algn="l"/>
              </a:tabLst>
            </a:pPr>
            <a:r>
              <a:rPr lang="en-US" sz="1200" b="0" u="none" strike="noStrike">
                <a:solidFill>
                  <a:schemeClr val="accent5"/>
                </a:solidFill>
                <a:effectLst/>
                <a:uFillTx/>
                <a:latin typeface="Calibri"/>
              </a:rPr>
              <a:t>Benign TP, ticket opened</a:t>
            </a:r>
            <a:endParaRPr lang="en-IN" sz="1200" b="0" u="none" strike="noStrike">
              <a:solidFill>
                <a:srgbClr val="000000"/>
              </a:solidFill>
              <a:effectLst/>
              <a:uFillTx/>
              <a:latin typeface="Arial"/>
            </a:endParaRPr>
          </a:p>
        </p:txBody>
      </p:sp>
      <p:sp>
        <p:nvSpPr>
          <p:cNvPr id="135" name="TimestampNote"/>
          <p:cNvSpPr/>
          <p:nvPr/>
        </p:nvSpPr>
        <p:spPr>
          <a:xfrm>
            <a:off x="457200" y="4297680"/>
            <a:ext cx="7589160" cy="456840"/>
          </a:xfrm>
          <a:prstGeom prst="roundRect">
            <a:avLst>
              <a:gd name="adj" fmla="val 24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6" name="Text 17"/>
          <p:cNvSpPr/>
          <p:nvPr/>
        </p:nvSpPr>
        <p:spPr>
          <a:xfrm>
            <a:off x="594360" y="4297680"/>
            <a:ext cx="73148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accent5"/>
                </a:solidFill>
                <a:effectLst/>
                <a:uFillTx/>
                <a:latin typeface="Calibri"/>
              </a:rPr>
              <a:t>Timestamps [hh:mm:ss TZ] to be copied from the raw alerts after normalising all sources to one timezone.</a:t>
            </a:r>
            <a:endParaRPr lang="en-IN" sz="1200" b="0" u="none" strike="noStrike">
              <a:solidFill>
                <a:srgbClr val="000000"/>
              </a:solidFill>
              <a:effectLst/>
              <a:uFillTx/>
              <a:latin typeface="Arial"/>
            </a:endParaRPr>
          </a:p>
        </p:txBody>
      </p:sp>
      <p:sp>
        <p:nvSpPr>
          <p:cNvPr id="137" name="PlaceHolder 2"/>
          <p:cNvSpPr>
            <a:spLocks noGrp="1"/>
          </p:cNvSpPr>
          <p:nvPr>
            <p:ph type="sldNum" idx="9"/>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E2485586-FB80-47A2-88CB-36F764012728}"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hasCustomPrompt="1"/>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1"/>
                </a:solidFill>
                <a:effectLst/>
                <a:uFillTx/>
                <a:latin typeface="Cambria"/>
              </a:rPr>
              <a:t>Snort + Wazuh Correlation</a:t>
            </a:r>
            <a:endParaRPr lang="en-IN" sz="3200" b="0" u="none" strike="noStrike">
              <a:solidFill>
                <a:schemeClr val="dk1"/>
              </a:solidFill>
              <a:effectLst/>
              <a:uFillTx/>
              <a:latin typeface="Calibri"/>
            </a:endParaRPr>
          </a:p>
        </p:txBody>
      </p:sp>
      <p:pic>
        <p:nvPicPr>
          <p:cNvPr id="139" name="CoverageFigure" descr="Table showing which tool detected which stage"/>
          <p:cNvPicPr/>
          <p:nvPr/>
        </p:nvPicPr>
        <p:blipFill>
          <a:blip r:embed="rId1"/>
          <a:stretch/>
        </p:blipFill>
        <p:spPr>
          <a:xfrm>
            <a:off x="457200" y="1188720"/>
            <a:ext cx="4754520" cy="1976040"/>
          </a:xfrm>
          <a:prstGeom prst="rect">
            <a:avLst/>
          </a:prstGeom>
          <a:noFill/>
          <a:ln w="0">
            <a:noFill/>
          </a:ln>
        </p:spPr>
      </p:pic>
      <p:sp>
        <p:nvSpPr>
          <p:cNvPr id="140" name="Text 1"/>
          <p:cNvSpPr/>
          <p:nvPr/>
        </p:nvSpPr>
        <p:spPr>
          <a:xfrm>
            <a:off x="457200" y="3238200"/>
            <a:ext cx="475452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chemeClr val="accent5"/>
                </a:solidFill>
                <a:effectLst/>
                <a:uFillTx/>
                <a:latin typeface="Calibri"/>
              </a:rPr>
              <a:t>Figure 8 · Which tool saw which stage</a:t>
            </a:r>
            <a:endParaRPr lang="en-IN" sz="1100" b="0" u="none" strike="noStrike">
              <a:solidFill>
                <a:srgbClr val="000000"/>
              </a:solidFill>
              <a:effectLst/>
              <a:uFillTx/>
              <a:latin typeface="Arial"/>
            </a:endParaRPr>
          </a:p>
        </p:txBody>
      </p:sp>
      <p:sp>
        <p:nvSpPr>
          <p:cNvPr id="141" name="SnortBlind"/>
          <p:cNvSpPr/>
          <p:nvPr/>
        </p:nvSpPr>
        <p:spPr>
          <a:xfrm>
            <a:off x="5486400" y="1188720"/>
            <a:ext cx="3200040" cy="1096920"/>
          </a:xfrm>
          <a:prstGeom prst="roundRect">
            <a:avLst>
              <a:gd name="adj" fmla="val 10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2" name="Text 3"/>
          <p:cNvSpPr/>
          <p:nvPr/>
        </p:nvSpPr>
        <p:spPr>
          <a:xfrm>
            <a:off x="5623560" y="1280160"/>
            <a:ext cx="292572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1"/>
                </a:solidFill>
                <a:effectLst/>
                <a:uFillTx/>
                <a:latin typeface="Calibri"/>
              </a:rPr>
              <a:t>Snort</a:t>
            </a:r>
            <a:endParaRPr lang="en-IN" sz="15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Sees the wire. Blind to encrypted SSH and host activity.</a:t>
            </a:r>
            <a:endParaRPr lang="en-IN" sz="1300" b="0" u="none" strike="noStrike">
              <a:solidFill>
                <a:srgbClr val="000000"/>
              </a:solidFill>
              <a:effectLst/>
              <a:uFillTx/>
              <a:latin typeface="Arial"/>
            </a:endParaRPr>
          </a:p>
        </p:txBody>
      </p:sp>
      <p:sp>
        <p:nvSpPr>
          <p:cNvPr id="143" name="WazuhBlind"/>
          <p:cNvSpPr/>
          <p:nvPr/>
        </p:nvSpPr>
        <p:spPr>
          <a:xfrm>
            <a:off x="5486400" y="2423160"/>
            <a:ext cx="3200040" cy="1096920"/>
          </a:xfrm>
          <a:prstGeom prst="roundRect">
            <a:avLst>
              <a:gd name="adj" fmla="val 10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4" name="Text 5"/>
          <p:cNvSpPr/>
          <p:nvPr/>
        </p:nvSpPr>
        <p:spPr>
          <a:xfrm>
            <a:off x="5623560" y="2514600"/>
            <a:ext cx="292572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1" u="none" strike="noStrike">
                <a:solidFill>
                  <a:schemeClr val="dk1"/>
                </a:solidFill>
                <a:effectLst/>
                <a:uFillTx/>
                <a:latin typeface="Calibri"/>
              </a:rPr>
              <a:t>Wazuh</a:t>
            </a:r>
            <a:endParaRPr lang="en-IN" sz="15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Sees logins, sudo, files. Blind to network recon.</a:t>
            </a:r>
            <a:endParaRPr lang="en-IN" sz="1300" b="0" u="none" strike="noStrike">
              <a:solidFill>
                <a:srgbClr val="000000"/>
              </a:solidFill>
              <a:effectLst/>
              <a:uFillTx/>
              <a:latin typeface="Arial"/>
            </a:endParaRPr>
          </a:p>
        </p:txBody>
      </p:sp>
      <p:sp>
        <p:nvSpPr>
          <p:cNvPr id="145" name="CorrelationBanner"/>
          <p:cNvSpPr/>
          <p:nvPr/>
        </p:nvSpPr>
        <p:spPr>
          <a:xfrm>
            <a:off x="457200" y="3840480"/>
            <a:ext cx="8229240" cy="776880"/>
          </a:xfrm>
          <a:prstGeom prst="roundRect">
            <a:avLst>
              <a:gd name="adj" fmla="val 14118"/>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6" name="Text 7"/>
          <p:cNvSpPr/>
          <p:nvPr/>
        </p:nvSpPr>
        <p:spPr>
          <a:xfrm>
            <a:off x="640080" y="3840480"/>
            <a:ext cx="7863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lt1"/>
                </a:solidFill>
                <a:effectLst/>
                <a:uFillTx/>
                <a:latin typeface="Calibri"/>
              </a:rPr>
              <a:t>Same source and target, one actor: Low and Medium alerts become one High-severity attack path.</a:t>
            </a:r>
            <a:endParaRPr lang="en-IN" sz="1500" b="0" u="none" strike="noStrike">
              <a:solidFill>
                <a:srgbClr val="000000"/>
              </a:solidFill>
              <a:effectLst/>
              <a:uFillTx/>
              <a:latin typeface="Arial"/>
            </a:endParaRPr>
          </a:p>
        </p:txBody>
      </p:sp>
      <p:sp>
        <p:nvSpPr>
          <p:cNvPr id="147" name="PlaceHolder 2"/>
          <p:cNvSpPr>
            <a:spLocks noGrp="1"/>
          </p:cNvSpPr>
          <p:nvPr>
            <p:ph type="sldNum" idx="10"/>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3357FBC9-CA73-4F04-8554-A1B7896DD062}"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hasCustomPrompt="1"/>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1"/>
                </a:solidFill>
                <a:effectLst/>
                <a:uFillTx/>
                <a:latin typeface="Cambria"/>
              </a:rPr>
              <a:t>Investigation and IOCs</a:t>
            </a:r>
            <a:endParaRPr lang="en-IN" sz="3200" b="0" u="none" strike="noStrike">
              <a:solidFill>
                <a:schemeClr val="dk1"/>
              </a:solidFill>
              <a:effectLst/>
              <a:uFillTx/>
              <a:latin typeface="Calibri"/>
            </a:endParaRPr>
          </a:p>
        </p:txBody>
      </p:sp>
      <p:sp>
        <p:nvSpPr>
          <p:cNvPr id="149" name="VerdictCard"/>
          <p:cNvSpPr/>
          <p:nvPr/>
        </p:nvSpPr>
        <p:spPr>
          <a:xfrm>
            <a:off x="457200" y="1188720"/>
            <a:ext cx="2559960" cy="2422800"/>
          </a:xfrm>
          <a:prstGeom prst="roundRect">
            <a:avLst>
              <a:gd name="adj" fmla="val 4528"/>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0" name="Text 2"/>
          <p:cNvSpPr/>
          <p:nvPr/>
        </p:nvSpPr>
        <p:spPr>
          <a:xfrm>
            <a:off x="640080" y="1325880"/>
            <a:ext cx="219420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pc="300" strike="noStrike">
                <a:solidFill>
                  <a:schemeClr val="accent4"/>
                </a:solidFill>
                <a:effectLst/>
                <a:uFillTx/>
                <a:latin typeface="Calibri"/>
              </a:rPr>
              <a:t>VERDICT</a:t>
            </a:r>
            <a:endParaRPr lang="en-IN" sz="1100" b="0" u="none" strike="noStrike">
              <a:solidFill>
                <a:srgbClr val="000000"/>
              </a:solidFill>
              <a:effectLst/>
              <a:uFillTx/>
              <a:latin typeface="Arial"/>
            </a:endParaRPr>
          </a:p>
        </p:txBody>
      </p:sp>
      <p:sp>
        <p:nvSpPr>
          <p:cNvPr id="151" name="Text 3"/>
          <p:cNvSpPr/>
          <p:nvPr/>
        </p:nvSpPr>
        <p:spPr>
          <a:xfrm>
            <a:off x="640080" y="1645920"/>
            <a:ext cx="219420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lt1"/>
                </a:solidFill>
                <a:effectLst/>
                <a:uFillTx/>
                <a:latin typeface="Cambria"/>
                <a:ea typeface="Cambria"/>
              </a:rPr>
              <a:t>Benign true positive</a:t>
            </a:r>
            <a:endParaRPr lang="en-IN" sz="2400" b="0" u="none" strike="noStrike">
              <a:solidFill>
                <a:srgbClr val="000000"/>
              </a:solidFill>
              <a:effectLst/>
              <a:uFillTx/>
              <a:latin typeface="Arial"/>
            </a:endParaRPr>
          </a:p>
        </p:txBody>
      </p:sp>
      <p:sp>
        <p:nvSpPr>
          <p:cNvPr id="152" name="Text 4"/>
          <p:cNvSpPr/>
          <p:nvPr/>
        </p:nvSpPr>
        <p:spPr>
          <a:xfrm>
            <a:off x="640080" y="2697480"/>
            <a:ext cx="219420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chemeClr val="lt2"/>
                </a:solidFill>
                <a:effectLst/>
                <a:uFillTx/>
                <a:latin typeface="Calibri"/>
              </a:rPr>
              <a:t>10 alert types, 0 false positives. Authorised lab test.</a:t>
            </a:r>
            <a:endParaRPr lang="en-IN" sz="1300" b="0" u="none" strike="noStrike">
              <a:solidFill>
                <a:srgbClr val="000000"/>
              </a:solidFill>
              <a:effectLst/>
              <a:uFillTx/>
              <a:latin typeface="Arial"/>
            </a:endParaRPr>
          </a:p>
        </p:txBody>
      </p:sp>
      <p:sp>
        <p:nvSpPr>
          <p:cNvPr id="153" name="IocCard1"/>
          <p:cNvSpPr/>
          <p:nvPr/>
        </p:nvSpPr>
        <p:spPr>
          <a:xfrm>
            <a:off x="3200400" y="1188720"/>
            <a:ext cx="1764360" cy="1161000"/>
          </a:xfrm>
          <a:prstGeom prst="roundRect">
            <a:avLst>
              <a:gd name="adj" fmla="val 9449"/>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4" name="Text 6"/>
          <p:cNvSpPr/>
          <p:nvPr/>
        </p:nvSpPr>
        <p:spPr>
          <a:xfrm>
            <a:off x="3310200" y="1280160"/>
            <a:ext cx="155412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trike="noStrike">
                <a:solidFill>
                  <a:schemeClr val="accent1"/>
                </a:solidFill>
                <a:effectLst/>
                <a:uFillTx/>
                <a:latin typeface="Calibri"/>
              </a:rPr>
              <a:t>Source IP</a:t>
            </a:r>
            <a:endParaRPr lang="en-IN" sz="1100" b="0" u="none" strike="noStrike">
              <a:solidFill>
                <a:srgbClr val="000000"/>
              </a:solidFill>
              <a:effectLst/>
              <a:uFillTx/>
              <a:latin typeface="Arial"/>
            </a:endParaRPr>
          </a:p>
        </p:txBody>
      </p:sp>
      <p:sp>
        <p:nvSpPr>
          <p:cNvPr id="155" name="Text 7"/>
          <p:cNvSpPr/>
          <p:nvPr/>
        </p:nvSpPr>
        <p:spPr>
          <a:xfrm>
            <a:off x="3310200" y="1536120"/>
            <a:ext cx="1554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1"/>
                </a:solidFill>
                <a:effectLst/>
                <a:uFillTx/>
                <a:latin typeface="Calibri"/>
              </a:rPr>
              <a:t>192.168.56.1</a:t>
            </a:r>
            <a:endParaRPr lang="en-IN" sz="1300" b="0" u="none" strike="noStrike">
              <a:solidFill>
                <a:srgbClr val="000000"/>
              </a:solidFill>
              <a:effectLst/>
              <a:uFillTx/>
              <a:latin typeface="Arial"/>
            </a:endParaRPr>
          </a:p>
        </p:txBody>
      </p:sp>
      <p:sp>
        <p:nvSpPr>
          <p:cNvPr id="156" name="Text 8"/>
          <p:cNvSpPr/>
          <p:nvPr/>
        </p:nvSpPr>
        <p:spPr>
          <a:xfrm>
            <a:off x="3310200" y="2011680"/>
            <a:ext cx="15541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5"/>
                </a:solidFill>
                <a:effectLst/>
                <a:uFillTx/>
                <a:latin typeface="Calibri"/>
              </a:rPr>
              <a:t>confirm in data.srcip</a:t>
            </a:r>
            <a:endParaRPr lang="en-IN" sz="1100" b="0" u="none" strike="noStrike">
              <a:solidFill>
                <a:srgbClr val="000000"/>
              </a:solidFill>
              <a:effectLst/>
              <a:uFillTx/>
              <a:latin typeface="Arial"/>
            </a:endParaRPr>
          </a:p>
        </p:txBody>
      </p:sp>
      <p:sp>
        <p:nvSpPr>
          <p:cNvPr id="157" name="IocCard2"/>
          <p:cNvSpPr/>
          <p:nvPr/>
        </p:nvSpPr>
        <p:spPr>
          <a:xfrm>
            <a:off x="5056560" y="1188720"/>
            <a:ext cx="1764360" cy="1161000"/>
          </a:xfrm>
          <a:prstGeom prst="roundRect">
            <a:avLst>
              <a:gd name="adj" fmla="val 9449"/>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8" name="Text 10"/>
          <p:cNvSpPr/>
          <p:nvPr/>
        </p:nvSpPr>
        <p:spPr>
          <a:xfrm>
            <a:off x="5166360" y="1280160"/>
            <a:ext cx="155412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trike="noStrike">
                <a:solidFill>
                  <a:schemeClr val="accent1"/>
                </a:solidFill>
                <a:effectLst/>
                <a:uFillTx/>
                <a:latin typeface="Calibri"/>
              </a:rPr>
              <a:t>Target</a:t>
            </a:r>
            <a:endParaRPr lang="en-IN" sz="1100" b="0" u="none" strike="noStrike">
              <a:solidFill>
                <a:srgbClr val="000000"/>
              </a:solidFill>
              <a:effectLst/>
              <a:uFillTx/>
              <a:latin typeface="Arial"/>
            </a:endParaRPr>
          </a:p>
        </p:txBody>
      </p:sp>
      <p:sp>
        <p:nvSpPr>
          <p:cNvPr id="159" name="Text 11"/>
          <p:cNvSpPr/>
          <p:nvPr/>
        </p:nvSpPr>
        <p:spPr>
          <a:xfrm>
            <a:off x="5166360" y="1536120"/>
            <a:ext cx="1554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1"/>
                </a:solidFill>
                <a:effectLst/>
                <a:uFillTx/>
                <a:latin typeface="Calibri"/>
              </a:rPr>
              <a:t>192.168.56.40</a:t>
            </a:r>
            <a:endParaRPr lang="en-IN" sz="1300" b="0" u="none" strike="noStrike">
              <a:solidFill>
                <a:srgbClr val="000000"/>
              </a:solidFill>
              <a:effectLst/>
              <a:uFillTx/>
              <a:latin typeface="Arial"/>
            </a:endParaRPr>
          </a:p>
        </p:txBody>
      </p:sp>
      <p:sp>
        <p:nvSpPr>
          <p:cNvPr id="160" name="Text 12"/>
          <p:cNvSpPr/>
          <p:nvPr/>
        </p:nvSpPr>
        <p:spPr>
          <a:xfrm>
            <a:off x="5166360" y="2011680"/>
            <a:ext cx="15541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5"/>
                </a:solidFill>
                <a:effectLst/>
                <a:uFillTx/>
                <a:latin typeface="Calibri"/>
              </a:rPr>
              <a:t>ubuntu-agent</a:t>
            </a:r>
            <a:endParaRPr lang="en-IN" sz="1100" b="0" u="none" strike="noStrike">
              <a:solidFill>
                <a:srgbClr val="000000"/>
              </a:solidFill>
              <a:effectLst/>
              <a:uFillTx/>
              <a:latin typeface="Arial"/>
            </a:endParaRPr>
          </a:p>
        </p:txBody>
      </p:sp>
      <p:sp>
        <p:nvSpPr>
          <p:cNvPr id="161" name="IocCard3"/>
          <p:cNvSpPr/>
          <p:nvPr/>
        </p:nvSpPr>
        <p:spPr>
          <a:xfrm>
            <a:off x="6912720" y="1188720"/>
            <a:ext cx="1764360" cy="1161000"/>
          </a:xfrm>
          <a:prstGeom prst="roundRect">
            <a:avLst>
              <a:gd name="adj" fmla="val 9449"/>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2" name="Text 14"/>
          <p:cNvSpPr/>
          <p:nvPr/>
        </p:nvSpPr>
        <p:spPr>
          <a:xfrm>
            <a:off x="7022520" y="1280160"/>
            <a:ext cx="155412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trike="noStrike">
                <a:solidFill>
                  <a:schemeClr val="accent1"/>
                </a:solidFill>
                <a:effectLst/>
                <a:uFillTx/>
                <a:latin typeface="Calibri"/>
              </a:rPr>
              <a:t>Accounts</a:t>
            </a:r>
            <a:endParaRPr lang="en-IN" sz="1100" b="0" u="none" strike="noStrike">
              <a:solidFill>
                <a:srgbClr val="000000"/>
              </a:solidFill>
              <a:effectLst/>
              <a:uFillTx/>
              <a:latin typeface="Arial"/>
            </a:endParaRPr>
          </a:p>
        </p:txBody>
      </p:sp>
      <p:sp>
        <p:nvSpPr>
          <p:cNvPr id="163" name="Text 15"/>
          <p:cNvSpPr/>
          <p:nvPr/>
        </p:nvSpPr>
        <p:spPr>
          <a:xfrm>
            <a:off x="7022520" y="1536120"/>
            <a:ext cx="1554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1"/>
                </a:solidFill>
                <a:effectLst/>
                <a:uFillTx/>
                <a:latin typeface="Calibri"/>
              </a:rPr>
              <a:t>root, ubuntu-wui</a:t>
            </a:r>
            <a:endParaRPr lang="en-IN" sz="1300" b="0" u="none" strike="noStrike">
              <a:solidFill>
                <a:srgbClr val="000000"/>
              </a:solidFill>
              <a:effectLst/>
              <a:uFillTx/>
              <a:latin typeface="Arial"/>
            </a:endParaRPr>
          </a:p>
        </p:txBody>
      </p:sp>
      <p:sp>
        <p:nvSpPr>
          <p:cNvPr id="164" name="Text 16"/>
          <p:cNvSpPr/>
          <p:nvPr/>
        </p:nvSpPr>
        <p:spPr>
          <a:xfrm>
            <a:off x="7022520" y="2011680"/>
            <a:ext cx="15541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5"/>
                </a:solidFill>
                <a:effectLst/>
                <a:uFillTx/>
                <a:latin typeface="Calibri"/>
              </a:rPr>
              <a:t>lab accounts</a:t>
            </a:r>
            <a:endParaRPr lang="en-IN" sz="1100" b="0" u="none" strike="noStrike">
              <a:solidFill>
                <a:srgbClr val="000000"/>
              </a:solidFill>
              <a:effectLst/>
              <a:uFillTx/>
              <a:latin typeface="Arial"/>
            </a:endParaRPr>
          </a:p>
        </p:txBody>
      </p:sp>
      <p:sp>
        <p:nvSpPr>
          <p:cNvPr id="165" name="IocCard4"/>
          <p:cNvSpPr/>
          <p:nvPr/>
        </p:nvSpPr>
        <p:spPr>
          <a:xfrm>
            <a:off x="3200400" y="2441520"/>
            <a:ext cx="1764360" cy="1161000"/>
          </a:xfrm>
          <a:prstGeom prst="roundRect">
            <a:avLst>
              <a:gd name="adj" fmla="val 9449"/>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6" name="Text 18"/>
          <p:cNvSpPr/>
          <p:nvPr/>
        </p:nvSpPr>
        <p:spPr>
          <a:xfrm>
            <a:off x="3310200" y="2532960"/>
            <a:ext cx="155412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trike="noStrike">
                <a:solidFill>
                  <a:schemeClr val="accent1"/>
                </a:solidFill>
                <a:effectLst/>
                <a:uFillTx/>
                <a:latin typeface="Calibri"/>
              </a:rPr>
              <a:t>Service</a:t>
            </a:r>
            <a:endParaRPr lang="en-IN" sz="1100" b="0" u="none" strike="noStrike">
              <a:solidFill>
                <a:srgbClr val="000000"/>
              </a:solidFill>
              <a:effectLst/>
              <a:uFillTx/>
              <a:latin typeface="Arial"/>
            </a:endParaRPr>
          </a:p>
        </p:txBody>
      </p:sp>
      <p:sp>
        <p:nvSpPr>
          <p:cNvPr id="167" name="Text 19"/>
          <p:cNvSpPr/>
          <p:nvPr/>
        </p:nvSpPr>
        <p:spPr>
          <a:xfrm>
            <a:off x="3310200" y="2788920"/>
            <a:ext cx="1554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1"/>
                </a:solidFill>
                <a:effectLst/>
                <a:uFillTx/>
                <a:latin typeface="Calibri"/>
              </a:rPr>
              <a:t>22/TCP and ICMP</a:t>
            </a:r>
            <a:endParaRPr lang="en-IN" sz="1300" b="0" u="none" strike="noStrike">
              <a:solidFill>
                <a:srgbClr val="000000"/>
              </a:solidFill>
              <a:effectLst/>
              <a:uFillTx/>
              <a:latin typeface="Arial"/>
            </a:endParaRPr>
          </a:p>
        </p:txBody>
      </p:sp>
      <p:sp>
        <p:nvSpPr>
          <p:cNvPr id="168" name="Text 20"/>
          <p:cNvSpPr/>
          <p:nvPr/>
        </p:nvSpPr>
        <p:spPr>
          <a:xfrm>
            <a:off x="3310200" y="3264480"/>
            <a:ext cx="15541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5"/>
                </a:solidFill>
                <a:effectLst/>
                <a:uFillTx/>
                <a:latin typeface="Calibri"/>
              </a:rPr>
              <a:t>SSH + ping</a:t>
            </a:r>
            <a:endParaRPr lang="en-IN" sz="1100" b="0" u="none" strike="noStrike">
              <a:solidFill>
                <a:srgbClr val="000000"/>
              </a:solidFill>
              <a:effectLst/>
              <a:uFillTx/>
              <a:latin typeface="Arial"/>
            </a:endParaRPr>
          </a:p>
        </p:txBody>
      </p:sp>
      <p:sp>
        <p:nvSpPr>
          <p:cNvPr id="169" name="IocCard5"/>
          <p:cNvSpPr/>
          <p:nvPr/>
        </p:nvSpPr>
        <p:spPr>
          <a:xfrm>
            <a:off x="5056560" y="2441520"/>
            <a:ext cx="1764360" cy="1161000"/>
          </a:xfrm>
          <a:prstGeom prst="roundRect">
            <a:avLst>
              <a:gd name="adj" fmla="val 9449"/>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0" name="Text 22"/>
          <p:cNvSpPr/>
          <p:nvPr/>
        </p:nvSpPr>
        <p:spPr>
          <a:xfrm>
            <a:off x="5166360" y="2532960"/>
            <a:ext cx="155412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trike="noStrike">
                <a:solidFill>
                  <a:schemeClr val="accent1"/>
                </a:solidFill>
                <a:effectLst/>
                <a:uFillTx/>
                <a:latin typeface="Calibri"/>
              </a:rPr>
              <a:t>File</a:t>
            </a:r>
            <a:endParaRPr lang="en-IN" sz="1100" b="0" u="none" strike="noStrike">
              <a:solidFill>
                <a:srgbClr val="000000"/>
              </a:solidFill>
              <a:effectLst/>
              <a:uFillTx/>
              <a:latin typeface="Arial"/>
            </a:endParaRPr>
          </a:p>
        </p:txBody>
      </p:sp>
      <p:sp>
        <p:nvSpPr>
          <p:cNvPr id="171" name="Text 23"/>
          <p:cNvSpPr/>
          <p:nvPr/>
        </p:nvSpPr>
        <p:spPr>
          <a:xfrm>
            <a:off x="5166360" y="2788920"/>
            <a:ext cx="1554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1"/>
                </a:solidFill>
                <a:effectLst/>
                <a:uFillTx/>
                <a:latin typeface="Calibri"/>
              </a:rPr>
              <a:t>/tmp/soc-lab-demo/ evidence.txt</a:t>
            </a:r>
            <a:endParaRPr lang="en-IN" sz="1300" b="0" u="none" strike="noStrike">
              <a:solidFill>
                <a:srgbClr val="000000"/>
              </a:solidFill>
              <a:effectLst/>
              <a:uFillTx/>
              <a:latin typeface="Arial"/>
            </a:endParaRPr>
          </a:p>
        </p:txBody>
      </p:sp>
      <p:sp>
        <p:nvSpPr>
          <p:cNvPr id="172" name="Text 24"/>
          <p:cNvSpPr/>
          <p:nvPr/>
        </p:nvSpPr>
        <p:spPr>
          <a:xfrm>
            <a:off x="5166360" y="3264480"/>
            <a:ext cx="15541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5"/>
                </a:solidFill>
                <a:effectLst/>
                <a:uFillTx/>
                <a:latin typeface="Calibri"/>
              </a:rPr>
              <a:t>FIM 554 / 550</a:t>
            </a:r>
            <a:endParaRPr lang="en-IN" sz="1100" b="0" u="none" strike="noStrike">
              <a:solidFill>
                <a:srgbClr val="000000"/>
              </a:solidFill>
              <a:effectLst/>
              <a:uFillTx/>
              <a:latin typeface="Arial"/>
            </a:endParaRPr>
          </a:p>
        </p:txBody>
      </p:sp>
      <p:sp>
        <p:nvSpPr>
          <p:cNvPr id="173" name="IocCard6"/>
          <p:cNvSpPr/>
          <p:nvPr/>
        </p:nvSpPr>
        <p:spPr>
          <a:xfrm>
            <a:off x="6912720" y="2441520"/>
            <a:ext cx="1764360" cy="1161000"/>
          </a:xfrm>
          <a:prstGeom prst="roundRect">
            <a:avLst>
              <a:gd name="adj" fmla="val 9449"/>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4" name="Text 26"/>
          <p:cNvSpPr/>
          <p:nvPr/>
        </p:nvSpPr>
        <p:spPr>
          <a:xfrm>
            <a:off x="7022520" y="2532960"/>
            <a:ext cx="155412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trike="noStrike">
                <a:solidFill>
                  <a:schemeClr val="accent1"/>
                </a:solidFill>
                <a:effectLst/>
                <a:uFillTx/>
                <a:latin typeface="Calibri"/>
              </a:rPr>
              <a:t>Detections</a:t>
            </a:r>
            <a:endParaRPr lang="en-IN" sz="1100" b="0" u="none" strike="noStrike">
              <a:solidFill>
                <a:srgbClr val="000000"/>
              </a:solidFill>
              <a:effectLst/>
              <a:uFillTx/>
              <a:latin typeface="Arial"/>
            </a:endParaRPr>
          </a:p>
        </p:txBody>
      </p:sp>
      <p:sp>
        <p:nvSpPr>
          <p:cNvPr id="175" name="Text 27"/>
          <p:cNvSpPr/>
          <p:nvPr/>
        </p:nvSpPr>
        <p:spPr>
          <a:xfrm>
            <a:off x="7022520" y="2788920"/>
            <a:ext cx="1554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chemeClr val="dk1"/>
                </a:solidFill>
                <a:effectLst/>
                <a:uFillTx/>
                <a:latin typeface="Calibri"/>
              </a:rPr>
              <a:t>SID 1:1000001</a:t>
            </a:r>
            <a:endParaRPr lang="en-IN" sz="1300" b="0" u="none" strike="noStrike">
              <a:solidFill>
                <a:srgbClr val="000000"/>
              </a:solidFill>
              <a:effectLst/>
              <a:uFillTx/>
              <a:latin typeface="Arial"/>
            </a:endParaRPr>
          </a:p>
        </p:txBody>
      </p:sp>
      <p:sp>
        <p:nvSpPr>
          <p:cNvPr id="176" name="Text 28"/>
          <p:cNvSpPr/>
          <p:nvPr/>
        </p:nvSpPr>
        <p:spPr>
          <a:xfrm>
            <a:off x="7022520" y="3264480"/>
            <a:ext cx="15541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chemeClr val="accent5"/>
                </a:solidFill>
                <a:effectLst/>
                <a:uFillTx/>
                <a:latin typeface="Calibri"/>
              </a:rPr>
              <a:t>Wazuh 5710 to 550</a:t>
            </a:r>
            <a:endParaRPr lang="en-IN" sz="1100" b="0" u="none" strike="noStrike">
              <a:solidFill>
                <a:srgbClr val="000000"/>
              </a:solidFill>
              <a:effectLst/>
              <a:uFillTx/>
              <a:latin typeface="Arial"/>
            </a:endParaRPr>
          </a:p>
        </p:txBody>
      </p:sp>
      <p:sp>
        <p:nvSpPr>
          <p:cNvPr id="177" name="KeyIocBanner"/>
          <p:cNvSpPr/>
          <p:nvPr/>
        </p:nvSpPr>
        <p:spPr>
          <a:xfrm>
            <a:off x="457200" y="3840480"/>
            <a:ext cx="8229240" cy="776880"/>
          </a:xfrm>
          <a:prstGeom prst="roundRect">
            <a:avLst>
              <a:gd name="adj" fmla="val 14118"/>
            </a:avLst>
          </a:prstGeom>
          <a:solidFill>
            <a:schemeClr val="accent2"/>
          </a:solidFill>
          <a:ln w="12700">
            <a:solidFill>
              <a:srgbClr val="F2A33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8" name="Text 30"/>
          <p:cNvSpPr/>
          <p:nvPr/>
        </p:nvSpPr>
        <p:spPr>
          <a:xfrm>
            <a:off x="640080" y="3840480"/>
            <a:ext cx="7863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Calibri"/>
              </a:rPr>
              <a:t>Key IOC: </a:t>
            </a:r>
            <a:r>
              <a:rPr lang="en-US" sz="1400" b="0" u="none" strike="noStrike">
                <a:solidFill>
                  <a:schemeClr val="dk1"/>
                </a:solidFill>
                <a:effectLst/>
                <a:uFillTx/>
                <a:latin typeface="Calibri"/>
              </a:rPr>
              <a:t>192.168.56.1 + root + rule 5715 after 5763, a success following a brute-force burst (MITRE T1110).</a:t>
            </a:r>
            <a:endParaRPr lang="en-IN" sz="1400" b="0" u="none" strike="noStrike">
              <a:solidFill>
                <a:srgbClr val="000000"/>
              </a:solidFill>
              <a:effectLst/>
              <a:uFillTx/>
              <a:latin typeface="Arial"/>
            </a:endParaRPr>
          </a:p>
        </p:txBody>
      </p:sp>
      <p:sp>
        <p:nvSpPr>
          <p:cNvPr id="179" name="PlaceHolder 2"/>
          <p:cNvSpPr>
            <a:spLocks noGrp="1"/>
          </p:cNvSpPr>
          <p:nvPr>
            <p:ph type="sldNum" idx="11"/>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1386EC2C-70E8-4CA8-930C-91E27A6019B8}"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hasCustomPrompt="1"/>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1"/>
                </a:solidFill>
                <a:effectLst/>
                <a:uFillTx/>
                <a:latin typeface="Cambria"/>
              </a:rPr>
              <a:t>Incident Response</a:t>
            </a:r>
            <a:endParaRPr lang="en-IN" sz="3200" b="0" u="none" strike="noStrike">
              <a:solidFill>
                <a:schemeClr val="dk1"/>
              </a:solidFill>
              <a:effectLst/>
              <a:uFillTx/>
              <a:latin typeface="Calibri"/>
            </a:endParaRPr>
          </a:p>
        </p:txBody>
      </p:sp>
      <p:pic>
        <p:nvPicPr>
          <p:cNvPr id="181" name="IRLifecycleFigure" descr="Incident response lifecycle from preparation to lessons learned"/>
          <p:cNvPicPr/>
          <p:nvPr/>
        </p:nvPicPr>
        <p:blipFill>
          <a:blip r:embed="rId1"/>
          <a:stretch/>
        </p:blipFill>
        <p:spPr>
          <a:xfrm>
            <a:off x="457200" y="1188720"/>
            <a:ext cx="8229240" cy="2278800"/>
          </a:xfrm>
          <a:prstGeom prst="rect">
            <a:avLst/>
          </a:prstGeom>
          <a:noFill/>
          <a:ln w="0">
            <a:noFill/>
          </a:ln>
        </p:spPr>
      </p:pic>
      <p:sp>
        <p:nvSpPr>
          <p:cNvPr id="182" name="TicketCard"/>
          <p:cNvSpPr/>
          <p:nvPr/>
        </p:nvSpPr>
        <p:spPr>
          <a:xfrm>
            <a:off x="457200" y="3657600"/>
            <a:ext cx="4023000" cy="959760"/>
          </a:xfrm>
          <a:prstGeom prst="roundRect">
            <a:avLst>
              <a:gd name="adj" fmla="val 11429"/>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3" name="Text 2"/>
          <p:cNvSpPr/>
          <p:nvPr/>
        </p:nvSpPr>
        <p:spPr>
          <a:xfrm>
            <a:off x="594360" y="3703320"/>
            <a:ext cx="374868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Calibri"/>
              </a:rPr>
              <a:t>Ticket DG-SOC-2026-001</a:t>
            </a:r>
            <a:endParaRPr lang="en-IN" sz="14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High during triage, benign true positive, closed after monitoring.</a:t>
            </a:r>
            <a:endParaRPr lang="en-IN" sz="1300" b="0" u="none" strike="noStrike">
              <a:solidFill>
                <a:srgbClr val="000000"/>
              </a:solidFill>
              <a:effectLst/>
              <a:uFillTx/>
              <a:latin typeface="Arial"/>
            </a:endParaRPr>
          </a:p>
        </p:txBody>
      </p:sp>
      <p:sp>
        <p:nvSpPr>
          <p:cNvPr id="184" name="ProdCard"/>
          <p:cNvSpPr/>
          <p:nvPr/>
        </p:nvSpPr>
        <p:spPr>
          <a:xfrm>
            <a:off x="4663440" y="3657600"/>
            <a:ext cx="4023000" cy="959760"/>
          </a:xfrm>
          <a:prstGeom prst="roundRect">
            <a:avLst>
              <a:gd name="adj" fmla="val 11429"/>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5" name="Text 4"/>
          <p:cNvSpPr/>
          <p:nvPr/>
        </p:nvSpPr>
        <p:spPr>
          <a:xfrm>
            <a:off x="4800600" y="3703320"/>
            <a:ext cx="374868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1"/>
                </a:solidFill>
                <a:effectLst/>
                <a:uFillTx/>
                <a:latin typeface="Calibri"/>
              </a:rPr>
              <a:t>If unauthorised</a:t>
            </a:r>
            <a:endParaRPr lang="en-IN" sz="14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Block source IP, lock account, end sessions, isolate host.</a:t>
            </a:r>
            <a:endParaRPr lang="en-IN" sz="1300" b="0" u="none" strike="noStrike">
              <a:solidFill>
                <a:srgbClr val="000000"/>
              </a:solidFill>
              <a:effectLst/>
              <a:uFillTx/>
              <a:latin typeface="Arial"/>
            </a:endParaRPr>
          </a:p>
        </p:txBody>
      </p:sp>
      <p:sp>
        <p:nvSpPr>
          <p:cNvPr id="186" name="PlaceHolder 2"/>
          <p:cNvSpPr>
            <a:spLocks noGrp="1"/>
          </p:cNvSpPr>
          <p:nvPr>
            <p:ph type="sldNum" idx="12"/>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F322664F-4F4B-44D5-AA13-1A368B674794}"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hasCustomPrompt="1"/>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1"/>
                </a:solidFill>
                <a:effectLst/>
                <a:uFillTx/>
                <a:latin typeface="Cambria"/>
              </a:rPr>
              <a:t>Metrics and Lessons</a:t>
            </a:r>
            <a:endParaRPr lang="en-IN" sz="3200" b="0" u="none" strike="noStrike">
              <a:solidFill>
                <a:schemeClr val="dk1"/>
              </a:solidFill>
              <a:effectLst/>
              <a:uFillTx/>
              <a:latin typeface="Calibri"/>
            </a:endParaRPr>
          </a:p>
        </p:txBody>
      </p:sp>
      <p:pic>
        <p:nvPicPr>
          <p:cNvPr id="188" name="MetricsFigure" descr="Bar charts of Wazuh alerts by rule level and analyst severity of incident alert types"/>
          <p:cNvPicPr/>
          <p:nvPr/>
        </p:nvPicPr>
        <p:blipFill>
          <a:blip r:embed="rId1"/>
          <a:stretch/>
        </p:blipFill>
        <p:spPr>
          <a:xfrm>
            <a:off x="457200" y="1188720"/>
            <a:ext cx="5028840" cy="1909080"/>
          </a:xfrm>
          <a:prstGeom prst="rect">
            <a:avLst/>
          </a:prstGeom>
          <a:noFill/>
          <a:ln w="0">
            <a:noFill/>
          </a:ln>
        </p:spPr>
      </p:pic>
      <p:sp>
        <p:nvSpPr>
          <p:cNvPr id="189" name="Text 1"/>
          <p:cNvSpPr/>
          <p:nvPr/>
        </p:nvSpPr>
        <p:spPr>
          <a:xfrm>
            <a:off x="457200" y="3171240"/>
            <a:ext cx="502884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i="1" u="none" strike="noStrike">
                <a:solidFill>
                  <a:schemeClr val="accent5"/>
                </a:solidFill>
                <a:effectLst/>
                <a:uFillTx/>
                <a:latin typeface="Calibri"/>
              </a:rPr>
              <a:t>Figure 12 · Dashboard bands (left) and analyst severity (right)</a:t>
            </a:r>
            <a:endParaRPr lang="en-IN" sz="1100" b="0" u="none" strike="noStrike">
              <a:solidFill>
                <a:srgbClr val="000000"/>
              </a:solidFill>
              <a:effectLst/>
              <a:uFillTx/>
              <a:latin typeface="Arial"/>
            </a:endParaRPr>
          </a:p>
        </p:txBody>
      </p:sp>
      <p:sp>
        <p:nvSpPr>
          <p:cNvPr id="190" name="MetricCard1"/>
          <p:cNvSpPr/>
          <p:nvPr/>
        </p:nvSpPr>
        <p:spPr>
          <a:xfrm>
            <a:off x="5760720" y="1188720"/>
            <a:ext cx="2925720" cy="731160"/>
          </a:xfrm>
          <a:prstGeom prst="roundRect">
            <a:avLst>
              <a:gd name="adj" fmla="val 15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1" name="Text 3"/>
          <p:cNvSpPr/>
          <p:nvPr/>
        </p:nvSpPr>
        <p:spPr>
          <a:xfrm>
            <a:off x="5852160" y="1188720"/>
            <a:ext cx="10969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accent1"/>
                </a:solidFill>
                <a:effectLst/>
                <a:uFillTx/>
                <a:latin typeface="Cambria"/>
                <a:ea typeface="Cambria"/>
              </a:rPr>
              <a:t>123</a:t>
            </a:r>
            <a:endParaRPr lang="en-IN" sz="2200" b="0" u="none" strike="noStrike">
              <a:solidFill>
                <a:srgbClr val="000000"/>
              </a:solidFill>
              <a:effectLst/>
              <a:uFillTx/>
              <a:latin typeface="Arial"/>
            </a:endParaRPr>
          </a:p>
        </p:txBody>
      </p:sp>
      <p:sp>
        <p:nvSpPr>
          <p:cNvPr id="192" name="Text 4"/>
          <p:cNvSpPr/>
          <p:nvPr/>
        </p:nvSpPr>
        <p:spPr>
          <a:xfrm>
            <a:off x="6995160" y="1188720"/>
            <a:ext cx="15998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accent5"/>
                </a:solidFill>
                <a:effectLst/>
                <a:uFillTx/>
                <a:latin typeface="Calibri"/>
              </a:rPr>
              <a:t>alerts in 24 h</a:t>
            </a:r>
            <a:endParaRPr lang="en-IN" sz="1200" b="0" u="none" strike="noStrike">
              <a:solidFill>
                <a:srgbClr val="000000"/>
              </a:solidFill>
              <a:effectLst/>
              <a:uFillTx/>
              <a:latin typeface="Arial"/>
            </a:endParaRPr>
          </a:p>
        </p:txBody>
      </p:sp>
      <p:sp>
        <p:nvSpPr>
          <p:cNvPr id="193" name="MetricCard2"/>
          <p:cNvSpPr/>
          <p:nvPr/>
        </p:nvSpPr>
        <p:spPr>
          <a:xfrm>
            <a:off x="5760720" y="2011680"/>
            <a:ext cx="2925720" cy="731160"/>
          </a:xfrm>
          <a:prstGeom prst="roundRect">
            <a:avLst>
              <a:gd name="adj" fmla="val 15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4" name="Text 6"/>
          <p:cNvSpPr/>
          <p:nvPr/>
        </p:nvSpPr>
        <p:spPr>
          <a:xfrm>
            <a:off x="5852160" y="2011680"/>
            <a:ext cx="10969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accent1"/>
                </a:solidFill>
                <a:effectLst/>
                <a:uFillTx/>
                <a:latin typeface="Cambria"/>
                <a:ea typeface="Cambria"/>
              </a:rPr>
              <a:t>10 / 0</a:t>
            </a:r>
            <a:endParaRPr lang="en-IN" sz="2200" b="0" u="none" strike="noStrike">
              <a:solidFill>
                <a:srgbClr val="000000"/>
              </a:solidFill>
              <a:effectLst/>
              <a:uFillTx/>
              <a:latin typeface="Arial"/>
            </a:endParaRPr>
          </a:p>
        </p:txBody>
      </p:sp>
      <p:sp>
        <p:nvSpPr>
          <p:cNvPr id="195" name="Text 7"/>
          <p:cNvSpPr/>
          <p:nvPr/>
        </p:nvSpPr>
        <p:spPr>
          <a:xfrm>
            <a:off x="6995160" y="2011680"/>
            <a:ext cx="15998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accent5"/>
                </a:solidFill>
                <a:effectLst/>
                <a:uFillTx/>
                <a:latin typeface="Calibri"/>
              </a:rPr>
              <a:t>alert types / false positives</a:t>
            </a:r>
            <a:endParaRPr lang="en-IN" sz="1200" b="0" u="none" strike="noStrike">
              <a:solidFill>
                <a:srgbClr val="000000"/>
              </a:solidFill>
              <a:effectLst/>
              <a:uFillTx/>
              <a:latin typeface="Arial"/>
            </a:endParaRPr>
          </a:p>
        </p:txBody>
      </p:sp>
      <p:sp>
        <p:nvSpPr>
          <p:cNvPr id="196" name="MetricCard3"/>
          <p:cNvSpPr/>
          <p:nvPr/>
        </p:nvSpPr>
        <p:spPr>
          <a:xfrm>
            <a:off x="5760720" y="2834640"/>
            <a:ext cx="2925720" cy="731160"/>
          </a:xfrm>
          <a:prstGeom prst="roundRect">
            <a:avLst>
              <a:gd name="adj" fmla="val 15000"/>
            </a:avLst>
          </a:prstGeom>
          <a:solidFill>
            <a:schemeClr val="bg2"/>
          </a:solidFill>
          <a:ln w="12700">
            <a:solidFill>
              <a:srgbClr val="EEF3F6"/>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7" name="Text 9"/>
          <p:cNvSpPr/>
          <p:nvPr/>
        </p:nvSpPr>
        <p:spPr>
          <a:xfrm>
            <a:off x="5852160" y="2834640"/>
            <a:ext cx="109692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accent1"/>
                </a:solidFill>
                <a:effectLst/>
                <a:uFillTx/>
                <a:latin typeface="Cambria"/>
                <a:ea typeface="Cambria"/>
              </a:rPr>
              <a:t>2·6·2</a:t>
            </a:r>
            <a:endParaRPr lang="en-IN" sz="2200" b="0" u="none" strike="noStrike">
              <a:solidFill>
                <a:srgbClr val="000000"/>
              </a:solidFill>
              <a:effectLst/>
              <a:uFillTx/>
              <a:latin typeface="Arial"/>
            </a:endParaRPr>
          </a:p>
        </p:txBody>
      </p:sp>
      <p:sp>
        <p:nvSpPr>
          <p:cNvPr id="198" name="Text 10"/>
          <p:cNvSpPr/>
          <p:nvPr/>
        </p:nvSpPr>
        <p:spPr>
          <a:xfrm>
            <a:off x="6995160" y="2834640"/>
            <a:ext cx="15998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accent5"/>
                </a:solidFill>
                <a:effectLst/>
                <a:uFillTx/>
                <a:latin typeface="Calibri"/>
              </a:rPr>
              <a:t>High · Medium · Low</a:t>
            </a:r>
            <a:endParaRPr lang="en-IN" sz="1200" b="0" u="none" strike="noStrike">
              <a:solidFill>
                <a:srgbClr val="000000"/>
              </a:solidFill>
              <a:effectLst/>
              <a:uFillTx/>
              <a:latin typeface="Arial"/>
            </a:endParaRPr>
          </a:p>
        </p:txBody>
      </p:sp>
      <p:sp>
        <p:nvSpPr>
          <p:cNvPr id="199" name="Text 11"/>
          <p:cNvSpPr/>
          <p:nvPr/>
        </p:nvSpPr>
        <p:spPr>
          <a:xfrm>
            <a:off x="457200" y="3611880"/>
            <a:ext cx="54860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1"/>
                </a:solidFill>
                <a:effectLst/>
                <a:uFillTx/>
                <a:latin typeface="Calibri"/>
              </a:rPr>
              <a:t>How I would improve the SOC</a:t>
            </a:r>
            <a:endParaRPr lang="en-IN" sz="1400" b="0" u="none" strike="noStrike">
              <a:solidFill>
                <a:srgbClr val="000000"/>
              </a:solidFill>
              <a:effectLst/>
              <a:uFillTx/>
              <a:latin typeface="Arial"/>
            </a:endParaRPr>
          </a:p>
        </p:txBody>
      </p:sp>
      <p:sp>
        <p:nvSpPr>
          <p:cNvPr id="200" name="ImproveChip1"/>
          <p:cNvSpPr/>
          <p:nvPr/>
        </p:nvSpPr>
        <p:spPr>
          <a:xfrm>
            <a:off x="457200" y="3977640"/>
            <a:ext cx="1919880" cy="685440"/>
          </a:xfrm>
          <a:prstGeom prst="roundRect">
            <a:avLst>
              <a:gd name="adj" fmla="val 16000"/>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01" name="Text 13"/>
          <p:cNvSpPr/>
          <p:nvPr/>
        </p:nvSpPr>
        <p:spPr>
          <a:xfrm>
            <a:off x="548640" y="3977640"/>
            <a:ext cx="173700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Thresholded Snort rule for port 22</a:t>
            </a:r>
            <a:endParaRPr lang="en-IN" sz="1200" b="0" u="none" strike="noStrike">
              <a:solidFill>
                <a:srgbClr val="000000"/>
              </a:solidFill>
              <a:effectLst/>
              <a:uFillTx/>
              <a:latin typeface="Arial"/>
            </a:endParaRPr>
          </a:p>
        </p:txBody>
      </p:sp>
      <p:sp>
        <p:nvSpPr>
          <p:cNvPr id="202" name="ImproveChip2"/>
          <p:cNvSpPr/>
          <p:nvPr/>
        </p:nvSpPr>
        <p:spPr>
          <a:xfrm>
            <a:off x="2560320" y="3977640"/>
            <a:ext cx="1919880" cy="685440"/>
          </a:xfrm>
          <a:prstGeom prst="roundRect">
            <a:avLst>
              <a:gd name="adj" fmla="val 16000"/>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03" name="Text 15"/>
          <p:cNvSpPr/>
          <p:nvPr/>
        </p:nvSpPr>
        <p:spPr>
          <a:xfrm>
            <a:off x="2651760" y="3977640"/>
            <a:ext cx="173700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Key-only SSH, no root login, MFA</a:t>
            </a:r>
            <a:endParaRPr lang="en-IN" sz="1200" b="0" u="none" strike="noStrike">
              <a:solidFill>
                <a:srgbClr val="000000"/>
              </a:solidFill>
              <a:effectLst/>
              <a:uFillTx/>
              <a:latin typeface="Arial"/>
            </a:endParaRPr>
          </a:p>
        </p:txBody>
      </p:sp>
      <p:sp>
        <p:nvSpPr>
          <p:cNvPr id="204" name="ImproveChip3"/>
          <p:cNvSpPr/>
          <p:nvPr/>
        </p:nvSpPr>
        <p:spPr>
          <a:xfrm>
            <a:off x="4663440" y="3977640"/>
            <a:ext cx="1919880" cy="685440"/>
          </a:xfrm>
          <a:prstGeom prst="roundRect">
            <a:avLst>
              <a:gd name="adj" fmla="val 16000"/>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05" name="Text 17"/>
          <p:cNvSpPr/>
          <p:nvPr/>
        </p:nvSpPr>
        <p:spPr>
          <a:xfrm>
            <a:off x="4754880" y="3977640"/>
            <a:ext cx="173700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Enforce NTP on all VMs</a:t>
            </a:r>
            <a:endParaRPr lang="en-IN" sz="1200" b="0" u="none" strike="noStrike">
              <a:solidFill>
                <a:srgbClr val="000000"/>
              </a:solidFill>
              <a:effectLst/>
              <a:uFillTx/>
              <a:latin typeface="Arial"/>
            </a:endParaRPr>
          </a:p>
        </p:txBody>
      </p:sp>
      <p:sp>
        <p:nvSpPr>
          <p:cNvPr id="206" name="ImproveChip4"/>
          <p:cNvSpPr/>
          <p:nvPr/>
        </p:nvSpPr>
        <p:spPr>
          <a:xfrm>
            <a:off x="6766560" y="3977640"/>
            <a:ext cx="1919880" cy="685440"/>
          </a:xfrm>
          <a:prstGeom prst="roundRect">
            <a:avLst>
              <a:gd name="adj" fmla="val 16000"/>
            </a:avLst>
          </a:prstGeom>
          <a:solidFill>
            <a:schemeClr val="tx2"/>
          </a:solidFill>
          <a:ln w="12700">
            <a:solidFill>
              <a:srgbClr val="1B3A52"/>
            </a:solidFill>
            <a:round/>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07" name="Text 19"/>
          <p:cNvSpPr/>
          <p:nvPr/>
        </p:nvSpPr>
        <p:spPr>
          <a:xfrm>
            <a:off x="6858000" y="3977640"/>
            <a:ext cx="173700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Test Wazuh active response</a:t>
            </a:r>
            <a:endParaRPr lang="en-IN" sz="1200" b="0" u="none" strike="noStrike">
              <a:solidFill>
                <a:srgbClr val="000000"/>
              </a:solidFill>
              <a:effectLst/>
              <a:uFillTx/>
              <a:latin typeface="Arial"/>
            </a:endParaRPr>
          </a:p>
        </p:txBody>
      </p:sp>
      <p:sp>
        <p:nvSpPr>
          <p:cNvPr id="208" name="PlaceHolder 2"/>
          <p:cNvSpPr>
            <a:spLocks noGrp="1"/>
          </p:cNvSpPr>
          <p:nvPr>
            <p:ph type="sldNum" idx="13"/>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5"/>
                </a:solidFill>
                <a:effectLst/>
                <a:uFillTx/>
                <a:latin typeface="Calibri"/>
              </a:defRPr>
            </a:lvl1pPr>
          </a:lstStyle>
          <a:p>
            <a:pPr indent="0" algn="r" defTabSz="914400">
              <a:lnSpc>
                <a:spcPct val="100000"/>
              </a:lnSpc>
              <a:buNone/>
            </a:pPr>
            <a:fld id="{E6D43976-CE83-4C93-856C-FD0DAA33BBE4}" type="slidenum">
              <a:rPr lang="en-US" sz="1000" b="0" u="none" strike="noStrike">
                <a:solidFill>
                  <a:schemeClr val="accent5"/>
                </a:solidFill>
                <a:effectLst/>
                <a:uFillTx/>
                <a:latin typeface="Calibri"/>
              </a:rPr>
              <a:t>&lt;number&gt;</a:t>
            </a:fld>
            <a:endParaRPr lang="en-IN"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OC Capstone">
  <a:themeElements>
    <a:clrScheme name="SOC Capstone">
      <a:dk1>
        <a:srgbClr val="10202E"/>
      </a:dk1>
      <a:lt1>
        <a:srgbClr val="FFFFFF"/>
      </a:lt1>
      <a:dk2>
        <a:srgbClr val="1B3A52"/>
      </a:dk2>
      <a:lt2>
        <a:srgbClr val="EEF3F6"/>
      </a:lt2>
      <a:accent1>
        <a:srgbClr val="0F7B72"/>
      </a:accent1>
      <a:accent2>
        <a:srgbClr val="F2A33A"/>
      </a:accent2>
      <a:accent3>
        <a:srgbClr val="D63B42"/>
      </a:accent3>
      <a:accent4>
        <a:srgbClr val="6CCB8A"/>
      </a:accent4>
      <a:accent5>
        <a:srgbClr val="5B7C99"/>
      </a:accent5>
      <a:accent6>
        <a:srgbClr val="8E6BBF"/>
      </a:accent6>
      <a:hlink>
        <a:srgbClr val="0F7B72"/>
      </a:hlink>
      <a:folHlink>
        <a:srgbClr val="5B7C99"/>
      </a:folHlink>
    </a:clrScheme>
    <a:fontScheme name="SOC Capstone">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2026-10-28T14:21:17Z</dcterms:created>
  <dc:creator>Md Mohtasim</dc:creator>
  <dc:description/>
  <dc:language>en-IN</dc:language>
  <cp:lastModifiedBy/>
  <dcterms:modified xsi:type="dcterms:W3CDTF">2026-10-28T19:53:35Z</dcterms:modified>
  <cp:revision>3</cp:revision>
  <dc:subject>PptxGenJS Presentation</dc:subject>
  <dc:title>Week 12 SOC Final Capstone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